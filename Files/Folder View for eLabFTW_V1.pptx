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2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409" autoAdjust="0"/>
  </p:normalViewPr>
  <p:slideViewPr>
    <p:cSldViewPr snapToGrid="0">
      <p:cViewPr varScale="1">
        <p:scale>
          <a:sx n="96" d="100"/>
          <a:sy n="96" d="100"/>
        </p:scale>
        <p:origin x="11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98D369-CAAA-4CAC-9648-752533FFB2CB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5AD1E-D36A-4AB6-A409-55CD9FD9B4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60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Tags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translated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pseudo-folder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ordering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and </a:t>
            </a:r>
            <a:r>
              <a:rPr lang="de-DE" dirty="0" err="1"/>
              <a:t>showing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n </a:t>
            </a:r>
            <a:r>
              <a:rPr lang="de-DE" dirty="0" err="1"/>
              <a:t>biggest</a:t>
            </a:r>
            <a:r>
              <a:rPr lang="de-DE" dirty="0"/>
              <a:t>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pseudo-folders. The </a:t>
            </a:r>
            <a:r>
              <a:rPr lang="de-DE" dirty="0" err="1"/>
              <a:t>size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n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hard-coded</a:t>
            </a:r>
            <a:r>
              <a:rPr lang="de-DE" dirty="0"/>
              <a:t>, </a:t>
            </a:r>
            <a:r>
              <a:rPr lang="de-DE" dirty="0" err="1"/>
              <a:t>determined</a:t>
            </a:r>
            <a:r>
              <a:rPr lang="de-DE" dirty="0"/>
              <a:t> </a:t>
            </a:r>
            <a:r>
              <a:rPr lang="de-DE" dirty="0" err="1"/>
              <a:t>dynamically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step</a:t>
            </a:r>
            <a:r>
              <a:rPr lang="de-DE" dirty="0"/>
              <a:t>-size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frequency</a:t>
            </a:r>
            <a:r>
              <a:rPr lang="de-DE" dirty="0"/>
              <a:t>/tag </a:t>
            </a:r>
            <a:r>
              <a:rPr lang="de-DE" dirty="0" err="1"/>
              <a:t>diagram</a:t>
            </a:r>
            <a:r>
              <a:rPr lang="de-DE" dirty="0"/>
              <a:t> (e.g., </a:t>
            </a:r>
            <a:r>
              <a:rPr lang="de-DE" dirty="0" err="1"/>
              <a:t>respecting</a:t>
            </a:r>
            <a:r>
              <a:rPr lang="de-DE" dirty="0"/>
              <a:t> *</a:t>
            </a:r>
            <a:r>
              <a:rPr lang="de-DE" dirty="0" err="1"/>
              <a:t>elbow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* </a:t>
            </a:r>
            <a:r>
              <a:rPr lang="de-DE" dirty="0" err="1"/>
              <a:t>or</a:t>
            </a:r>
            <a:r>
              <a:rPr lang="de-DE" dirty="0"/>
              <a:t> large </a:t>
            </a:r>
            <a:r>
              <a:rPr lang="de-DE" dirty="0" err="1"/>
              <a:t>step</a:t>
            </a:r>
            <a:r>
              <a:rPr lang="de-DE" dirty="0"/>
              <a:t> </a:t>
            </a:r>
            <a:r>
              <a:rPr lang="de-DE" dirty="0" err="1"/>
              <a:t>sizes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biggest</a:t>
            </a:r>
            <a:r>
              <a:rPr lang="de-DE" dirty="0"/>
              <a:t> tag </a:t>
            </a:r>
            <a:r>
              <a:rPr lang="de-DE" dirty="0" err="1"/>
              <a:t>group</a:t>
            </a:r>
            <a:r>
              <a:rPr lang="de-DE" dirty="0"/>
              <a:t>), </a:t>
            </a:r>
            <a:r>
              <a:rPr lang="de-DE" dirty="0" err="1"/>
              <a:t>determined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clusters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level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determined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space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browser</a:t>
            </a:r>
            <a:r>
              <a:rPr lang="de-DE" dirty="0"/>
              <a:t> </a:t>
            </a:r>
            <a:r>
              <a:rPr lang="de-DE" dirty="0" err="1"/>
              <a:t>page</a:t>
            </a:r>
            <a:r>
              <a:rPr lang="de-DE" dirty="0"/>
              <a:t>.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probably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sense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additionally</a:t>
            </a:r>
            <a:r>
              <a:rPr lang="de-DE" dirty="0"/>
              <a:t> „clean“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 </a:t>
            </a:r>
            <a:r>
              <a:rPr lang="de-DE" dirty="0" err="1"/>
              <a:t>view</a:t>
            </a:r>
            <a:r>
              <a:rPr lang="de-DE" dirty="0"/>
              <a:t> a </a:t>
            </a:r>
            <a:r>
              <a:rPr lang="de-DE" dirty="0" err="1"/>
              <a:t>little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tab</a:t>
            </a:r>
            <a:r>
              <a:rPr lang="de-DE" dirty="0"/>
              <a:t>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significant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, e.g.,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case</a:t>
            </a:r>
            <a:r>
              <a:rPr lang="de-DE" dirty="0"/>
              <a:t>,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make</a:t>
            </a:r>
            <a:r>
              <a:rPr lang="de-DE" dirty="0"/>
              <a:t> sense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Flow </a:t>
            </a:r>
            <a:r>
              <a:rPr lang="de-DE" dirty="0" err="1"/>
              <a:t>cytometry</a:t>
            </a:r>
            <a:r>
              <a:rPr lang="de-DE" dirty="0"/>
              <a:t> &amp; Differentiation </a:t>
            </a:r>
            <a:r>
              <a:rPr lang="de-DE" dirty="0" err="1"/>
              <a:t>or</a:t>
            </a:r>
            <a:r>
              <a:rPr lang="de-DE" dirty="0"/>
              <a:t> TIRN &amp; Differentiation, but not all </a:t>
            </a:r>
            <a:r>
              <a:rPr lang="de-DE" dirty="0" err="1"/>
              <a:t>three</a:t>
            </a:r>
            <a:r>
              <a:rPr lang="de-DE" dirty="0"/>
              <a:t>, </a:t>
            </a:r>
            <a:r>
              <a:rPr lang="de-DE" dirty="0" err="1"/>
              <a:t>because</a:t>
            </a:r>
            <a:r>
              <a:rPr lang="de-DE" dirty="0"/>
              <a:t> Flow </a:t>
            </a:r>
            <a:r>
              <a:rPr lang="de-DE" dirty="0" err="1"/>
              <a:t>Cytometry</a:t>
            </a:r>
            <a:r>
              <a:rPr lang="de-DE" dirty="0"/>
              <a:t> &amp; TIRN </a:t>
            </a:r>
            <a:r>
              <a:rPr lang="de-DE" dirty="0" err="1"/>
              <a:t>have</a:t>
            </a:r>
            <a:r>
              <a:rPr lang="de-DE" dirty="0"/>
              <a:t> a 3/3 </a:t>
            </a:r>
            <a:r>
              <a:rPr lang="de-DE" dirty="0" err="1"/>
              <a:t>correlation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global </a:t>
            </a:r>
            <a:r>
              <a:rPr lang="de-DE" dirty="0" err="1"/>
              <a:t>level</a:t>
            </a:r>
            <a:r>
              <a:rPr lang="de-DE" dirty="0"/>
              <a:t>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5AD1E-D36A-4AB6-A409-55CD9FD9B4C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830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This </a:t>
            </a: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iterated</a:t>
            </a:r>
            <a:r>
              <a:rPr lang="de-DE" dirty="0"/>
              <a:t> on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Tag </a:t>
            </a:r>
            <a:r>
              <a:rPr lang="de-DE" dirty="0" err="1"/>
              <a:t>string</a:t>
            </a:r>
            <a:r>
              <a:rPr lang="de-DE" dirty="0"/>
              <a:t> / </a:t>
            </a:r>
            <a:r>
              <a:rPr lang="de-DE" err="1"/>
              <a:t>filter</a:t>
            </a:r>
            <a:r>
              <a:rPr lang="de-DE"/>
              <a:t> string to simulate a folder tree.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5AD1E-D36A-4AB6-A409-55CD9FD9B4C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890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Terminal </a:t>
            </a:r>
            <a:r>
              <a:rPr lang="de-DE" dirty="0" err="1"/>
              <a:t>branches</a:t>
            </a:r>
            <a:r>
              <a:rPr lang="de-DE" dirty="0"/>
              <a:t>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1) all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exactly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tag </a:t>
            </a:r>
            <a:r>
              <a:rPr lang="de-DE" dirty="0" err="1"/>
              <a:t>string</a:t>
            </a:r>
            <a:r>
              <a:rPr lang="de-DE" dirty="0"/>
              <a:t> and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tags (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also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folders</a:t>
            </a:r>
            <a:r>
              <a:rPr lang="de-DE" dirty="0"/>
              <a:t>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clicking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, just like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folders</a:t>
            </a:r>
            <a:r>
              <a:rPr lang="de-DE" dirty="0"/>
              <a:t> in a real </a:t>
            </a:r>
            <a:r>
              <a:rPr lang="de-DE" dirty="0" err="1"/>
              <a:t>folder</a:t>
            </a:r>
            <a:r>
              <a:rPr lang="de-DE" dirty="0"/>
              <a:t> </a:t>
            </a:r>
            <a:r>
              <a:rPr lang="de-DE" dirty="0" err="1"/>
              <a:t>tree</a:t>
            </a:r>
            <a:r>
              <a:rPr lang="de-DE" dirty="0"/>
              <a:t>), 2) Any n‘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tag </a:t>
            </a:r>
            <a:r>
              <a:rPr lang="de-DE" dirty="0" err="1"/>
              <a:t>string</a:t>
            </a:r>
            <a:r>
              <a:rPr lang="de-DE" dirty="0"/>
              <a:t>,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long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n‘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a </a:t>
            </a:r>
            <a:r>
              <a:rPr lang="de-DE" dirty="0" err="1"/>
              <a:t>pre-defined</a:t>
            </a:r>
            <a:r>
              <a:rPr lang="de-DE" dirty="0"/>
              <a:t> </a:t>
            </a:r>
            <a:r>
              <a:rPr lang="de-DE" dirty="0" err="1"/>
              <a:t>number</a:t>
            </a:r>
            <a:r>
              <a:rPr lang="de-DE" dirty="0"/>
              <a:t>, e.g., n‘=n, 3) </a:t>
            </a:r>
            <a:r>
              <a:rPr lang="de-DE" dirty="0" err="1"/>
              <a:t>any</a:t>
            </a:r>
            <a:r>
              <a:rPr lang="de-DE" dirty="0"/>
              <a:t> tag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size</a:t>
            </a:r>
            <a:r>
              <a:rPr lang="de-DE" dirty="0"/>
              <a:t> &lt;n“, e.g., n“=2,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prevent</a:t>
            </a:r>
            <a:r>
              <a:rPr lang="de-DE" dirty="0"/>
              <a:t>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folders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single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few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, </a:t>
            </a:r>
            <a:r>
              <a:rPr lang="de-DE" dirty="0" err="1"/>
              <a:t>instead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just </a:t>
            </a:r>
            <a:r>
              <a:rPr lang="de-DE" dirty="0" err="1"/>
              <a:t>showing</a:t>
            </a:r>
            <a:r>
              <a:rPr lang="de-DE" dirty="0"/>
              <a:t>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.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,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2 and 3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met</a:t>
            </a:r>
            <a:r>
              <a:rPr lang="de-DE" dirty="0"/>
              <a:t>. </a:t>
            </a:r>
          </a:p>
          <a:p>
            <a:endParaRPr lang="de-DE" dirty="0"/>
          </a:p>
          <a:p>
            <a:r>
              <a:rPr lang="de-DE" dirty="0"/>
              <a:t>In a fully </a:t>
            </a:r>
            <a:r>
              <a:rPr lang="de-DE" dirty="0" err="1"/>
              <a:t>realized</a:t>
            </a:r>
            <a:r>
              <a:rPr lang="de-DE" dirty="0"/>
              <a:t> </a:t>
            </a:r>
            <a:r>
              <a:rPr lang="de-DE" dirty="0" err="1"/>
              <a:t>version</a:t>
            </a:r>
            <a:r>
              <a:rPr lang="de-DE" dirty="0"/>
              <a:t>,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folder</a:t>
            </a:r>
            <a:r>
              <a:rPr lang="de-DE" dirty="0"/>
              <a:t> </a:t>
            </a:r>
            <a:r>
              <a:rPr lang="de-DE" dirty="0" err="1"/>
              <a:t>view</a:t>
            </a:r>
            <a:r>
              <a:rPr lang="de-DE" dirty="0"/>
              <a:t>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even</a:t>
            </a:r>
            <a:r>
              <a:rPr lang="de-DE" dirty="0"/>
              <a:t> </a:t>
            </a:r>
            <a:r>
              <a:rPr lang="de-DE" dirty="0" err="1"/>
              <a:t>allow</a:t>
            </a:r>
            <a:r>
              <a:rPr lang="de-DE" dirty="0"/>
              <a:t> </a:t>
            </a:r>
            <a:r>
              <a:rPr lang="de-DE" dirty="0" err="1"/>
              <a:t>dragging</a:t>
            </a:r>
            <a:r>
              <a:rPr lang="de-DE" dirty="0"/>
              <a:t> </a:t>
            </a:r>
            <a:r>
              <a:rPr lang="de-DE" dirty="0" err="1"/>
              <a:t>experiments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*</a:t>
            </a:r>
            <a:r>
              <a:rPr lang="de-DE" dirty="0" err="1"/>
              <a:t>folders</a:t>
            </a:r>
            <a:r>
              <a:rPr lang="de-DE" dirty="0"/>
              <a:t>*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tag </a:t>
            </a:r>
            <a:r>
              <a:rPr lang="de-DE" dirty="0" err="1"/>
              <a:t>string</a:t>
            </a:r>
            <a:r>
              <a:rPr lang="de-DE" dirty="0"/>
              <a:t> plus </a:t>
            </a:r>
            <a:r>
              <a:rPr lang="de-DE" dirty="0" err="1"/>
              <a:t>that</a:t>
            </a:r>
            <a:r>
              <a:rPr lang="de-DE" dirty="0"/>
              <a:t> tag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75AD1E-D36A-4AB6-A409-55CD9FD9B4C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3931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577153-48A1-4455-8366-C001EB8A5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9E70FF-E705-44B0-AF80-E771E6EFC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BF7910-2696-4832-AD30-E65AFDC5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4E9F88-D2C1-41E4-B78B-E00125EC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7AD549-5CF2-4FC6-8BAF-BB7B1BD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5618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13ABF-DF24-4A68-9482-BB6CFE7D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02E6B2-1C48-4FC3-B881-80C4AC990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178752-4D13-44A3-999F-5C4CEC94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E5E323-9F4F-4D64-B37E-70A05EF9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2BC4C3-134D-4004-8254-F07FA483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2993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70157-D4C8-46B8-B337-310E806B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C1D766-AA91-4418-807E-FECC72ED5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9B2F16-4227-4825-8706-8EAFF963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0F4FB6-2135-414D-8B3D-9D9D167C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792217-2CB2-4520-9005-3C8CED31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661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20380-E99D-40AC-B52F-FE20E2D1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54E634-5C6C-44D0-9757-49FC53AF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0E8AD4-0FBB-4932-A7D1-7B9B4C019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3380E3-3D66-46FB-9BAB-171C2C9A9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47BFA5-471F-46AC-B8EA-2F18539E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BD0F38-678B-45AA-AD31-CA531B59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40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30FD88-B1E6-493E-A8BE-53032801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19259F-11AA-4348-9436-01F0BB0F2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DF07F6-A12C-40E2-8505-4DCF4D923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049018-9B06-4119-B693-E4CB1A1A5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81D375F-1098-4416-9D3A-62B253BF96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0AF5E6-D58C-4B50-B84D-82996E35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834035-19BD-4957-9C7B-FFACAA2A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946431-B031-417E-A365-60832C631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374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0891B-A313-4717-A403-425F49878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78962C-2370-40E4-B502-459899AA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4E9111C-5201-41A1-895F-7926F0B1F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8C2B7CC-2962-44E1-963A-428445D2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720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92871ED-75AD-4BB0-9322-2B7C7EEE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2D7F13A-BF8F-4AB8-B49A-2071AB0F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82D360-1F31-4D68-B43F-C035EEAE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651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1A1FE-1B15-476D-8184-C72E2752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20D5-C2C9-47C3-9C4E-263F95547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564D4D-D40B-4F15-AB6E-E8C6AE775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223544-6D76-4CA0-BBF3-C1EE4FFF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A40F07-AFEF-4506-A0F3-C66CBDE0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DC67E7-365F-48E6-9AF1-6FF8819A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70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B04D43-1F03-4C7F-A25A-C3E9957C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94263CE-E42F-4DE5-B8DC-CBB337793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747A3E-6B0D-47FD-9A46-1683D5842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8E4F97-471C-4B03-A6FF-57990D360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141A33-3091-49D3-A791-71008E4E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CF210B5-ABBC-4B8B-934F-89D340CB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05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D5301-69A3-40AC-B9D7-6DFE4279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32A4C6-4604-44CD-95B1-CA9C85C43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7D9003-0282-4C57-AED1-69D1EAB2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CDB63D-D21E-4F12-8E11-F0DF0457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3E34BC-C592-4F42-9D7D-D9C134A02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627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10B71A8-2433-4AE6-B63D-065A57B8E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9C9D4F8-D945-442F-A048-D04BAA1BF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D8456-0ED1-4965-BDD1-31EE1952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D004E9-09DE-45D9-8AEC-04163C91A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AA7C44-EA3F-48A0-8DDB-22F18BD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02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FF697D5-2A1F-4567-8E92-61456301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23018D-45AD-4C9A-89D5-BECADBB8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7828F3-75E9-4718-9F89-800E7AA70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BB834-0D1A-462A-B07B-A14F205FA556}" type="datetimeFigureOut">
              <a:rPr lang="de-DE" smtClean="0"/>
              <a:t>01.04.2026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AEFBC8-61DB-499B-9787-3487BC7C9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9268F-7B19-4E07-9A3E-0C9775673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B2-75C1-41D4-9BDF-3EBA49ECB7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395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F70B8FD3-0ED3-4DAE-AD90-87958B12CC9A}"/>
              </a:ext>
            </a:extLst>
          </p:cNvPr>
          <p:cNvSpPr/>
          <p:nvPr/>
        </p:nvSpPr>
        <p:spPr>
          <a:xfrm>
            <a:off x="336884" y="818147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F65780-D349-448B-8B0D-20A4FA9C7486}"/>
              </a:ext>
            </a:extLst>
          </p:cNvPr>
          <p:cNvSpPr txBox="1"/>
          <p:nvPr/>
        </p:nvSpPr>
        <p:spPr>
          <a:xfrm>
            <a:off x="336883" y="834553"/>
            <a:ext cx="6946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Hematopoietic</a:t>
            </a:r>
            <a:r>
              <a:rPr lang="de-DE" dirty="0"/>
              <a:t> Differentiation 12</a:t>
            </a:r>
          </a:p>
          <a:p>
            <a:r>
              <a:rPr lang="de-DE" dirty="0">
                <a:highlight>
                  <a:srgbClr val="FFFF00"/>
                </a:highlight>
              </a:rPr>
              <a:t>#HD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</a:t>
            </a:r>
          </a:p>
          <a:p>
            <a:r>
              <a:rPr lang="de-DE" dirty="0"/>
              <a:t>Creator: Willem </a:t>
            </a:r>
            <a:r>
              <a:rPr lang="de-DE" dirty="0" err="1"/>
              <a:t>Buys</a:t>
            </a:r>
            <a:endParaRPr lang="de-DE" dirty="0"/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trigas_inucubator</a:t>
            </a:r>
            <a:r>
              <a:rPr lang="de-DE" dirty="0"/>
              <a:t>, […]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DBC971B-E271-434C-AB9A-D7A0BC82710C}"/>
              </a:ext>
            </a:extLst>
          </p:cNvPr>
          <p:cNvSpPr/>
          <p:nvPr/>
        </p:nvSpPr>
        <p:spPr>
          <a:xfrm>
            <a:off x="336884" y="2338500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222FB19-2878-427C-AAF5-0F3CDC23DFC0}"/>
              </a:ext>
            </a:extLst>
          </p:cNvPr>
          <p:cNvSpPr txBox="1"/>
          <p:nvPr/>
        </p:nvSpPr>
        <p:spPr>
          <a:xfrm>
            <a:off x="336883" y="2354906"/>
            <a:ext cx="58402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Mesoderm Differentiation 2</a:t>
            </a:r>
          </a:p>
          <a:p>
            <a:r>
              <a:rPr lang="de-DE" dirty="0">
                <a:solidFill>
                  <a:schemeClr val="bg1"/>
                </a:solidFill>
                <a:highlight>
                  <a:srgbClr val="800080"/>
                </a:highlight>
              </a:rPr>
              <a:t>#MD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highlight>
                  <a:srgbClr val="FF00FF"/>
                </a:highlight>
              </a:rPr>
              <a:t>#qPCR</a:t>
            </a:r>
          </a:p>
          <a:p>
            <a:r>
              <a:rPr lang="de-DE" dirty="0" err="1"/>
              <a:t>Authors</a:t>
            </a:r>
            <a:r>
              <a:rPr lang="de-DE" dirty="0"/>
              <a:t>: Willem </a:t>
            </a:r>
            <a:r>
              <a:rPr lang="de-DE" dirty="0" err="1"/>
              <a:t>Buys</a:t>
            </a:r>
            <a:r>
              <a:rPr lang="de-DE" dirty="0"/>
              <a:t>, Aljoscha Erlebach</a:t>
            </a:r>
          </a:p>
          <a:p>
            <a:r>
              <a:rPr lang="de-DE" dirty="0"/>
              <a:t>Resources: E32C4_iPSC, </a:t>
            </a:r>
            <a:r>
              <a:rPr lang="de-DE" dirty="0" err="1"/>
              <a:t>trigas_inucubator</a:t>
            </a:r>
            <a:r>
              <a:rPr lang="de-DE" dirty="0"/>
              <a:t>, </a:t>
            </a:r>
            <a:r>
              <a:rPr lang="de-DE" dirty="0" err="1"/>
              <a:t>Thermocycler</a:t>
            </a:r>
            <a:r>
              <a:rPr lang="de-DE" dirty="0"/>
              <a:t>, […]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CDAE12-8940-4B3E-B115-A1C7C43311B7}"/>
              </a:ext>
            </a:extLst>
          </p:cNvPr>
          <p:cNvSpPr/>
          <p:nvPr/>
        </p:nvSpPr>
        <p:spPr>
          <a:xfrm>
            <a:off x="336884" y="3858853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B78CD6-1248-4EC7-9B66-297E3F9C0A6F}"/>
              </a:ext>
            </a:extLst>
          </p:cNvPr>
          <p:cNvSpPr txBox="1"/>
          <p:nvPr/>
        </p:nvSpPr>
        <p:spPr>
          <a:xfrm>
            <a:off x="336883" y="3875259"/>
            <a:ext cx="65135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Hematopoietic</a:t>
            </a:r>
            <a:r>
              <a:rPr lang="de-DE" dirty="0"/>
              <a:t> Differentiation 11</a:t>
            </a:r>
          </a:p>
          <a:p>
            <a:r>
              <a:rPr lang="de-DE" dirty="0">
                <a:highlight>
                  <a:srgbClr val="FFFF00"/>
                </a:highlight>
              </a:rPr>
              <a:t>#HD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highlight>
                  <a:srgbClr val="FF00FF"/>
                </a:highlight>
              </a:rPr>
              <a:t>#qPCR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</a:t>
            </a:r>
          </a:p>
          <a:p>
            <a:r>
              <a:rPr lang="de-DE" dirty="0"/>
              <a:t>Creator: Willem </a:t>
            </a:r>
            <a:r>
              <a:rPr lang="de-DE" dirty="0" err="1"/>
              <a:t>Buys</a:t>
            </a:r>
            <a:endParaRPr lang="de-DE" dirty="0"/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Thermocycler</a:t>
            </a:r>
            <a:r>
              <a:rPr lang="de-DE" dirty="0"/>
              <a:t>, […]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2B66FF0-A551-4188-A385-B7093C2DEBDF}"/>
              </a:ext>
            </a:extLst>
          </p:cNvPr>
          <p:cNvSpPr/>
          <p:nvPr/>
        </p:nvSpPr>
        <p:spPr>
          <a:xfrm>
            <a:off x="336884" y="5312572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7A03545-2F6F-4B24-B03C-0BDAAFE9EFB6}"/>
              </a:ext>
            </a:extLst>
          </p:cNvPr>
          <p:cNvSpPr txBox="1"/>
          <p:nvPr/>
        </p:nvSpPr>
        <p:spPr>
          <a:xfrm>
            <a:off x="336883" y="5328978"/>
            <a:ext cx="6946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TIRN </a:t>
            </a:r>
            <a:r>
              <a:rPr lang="de-DE" dirty="0" err="1"/>
              <a:t>optimization</a:t>
            </a:r>
            <a:r>
              <a:rPr lang="de-DE" dirty="0"/>
              <a:t> 9</a:t>
            </a:r>
          </a:p>
          <a:p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highlight>
                  <a:srgbClr val="00FFFF"/>
                </a:highlight>
              </a:rPr>
              <a:t>#MaintenanceCulture</a:t>
            </a:r>
          </a:p>
          <a:p>
            <a:r>
              <a:rPr lang="de-DE" dirty="0"/>
              <a:t>Creator: Aljoscha Erlebach</a:t>
            </a:r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trigas_inucubator</a:t>
            </a:r>
            <a:r>
              <a:rPr lang="de-DE" dirty="0"/>
              <a:t>, […]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27CF054-5D14-4EB9-A0A5-C0D50BC61B3D}"/>
              </a:ext>
            </a:extLst>
          </p:cNvPr>
          <p:cNvSpPr txBox="1"/>
          <p:nvPr/>
        </p:nvSpPr>
        <p:spPr>
          <a:xfrm>
            <a:off x="336883" y="265973"/>
            <a:ext cx="352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Standard </a:t>
            </a:r>
            <a:r>
              <a:rPr lang="de-DE" u="sng" dirty="0" err="1"/>
              <a:t>eLABFTW</a:t>
            </a:r>
            <a:r>
              <a:rPr lang="de-DE" u="sng" dirty="0"/>
              <a:t> </a:t>
            </a:r>
            <a:r>
              <a:rPr lang="de-DE" u="sng" dirty="0" err="1"/>
              <a:t>experiment</a:t>
            </a:r>
            <a:r>
              <a:rPr lang="de-DE" u="sng" dirty="0"/>
              <a:t> hub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135397B-44BD-4975-B825-FB4EBF936F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1" t="55428" r="5453" b="11588"/>
          <a:stretch/>
        </p:blipFill>
        <p:spPr>
          <a:xfrm>
            <a:off x="6850397" y="118631"/>
            <a:ext cx="688736" cy="54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83046E63-3513-41CE-9E1E-F40F7C27A1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1" t="55428" r="5453" b="11588"/>
          <a:stretch/>
        </p:blipFill>
        <p:spPr>
          <a:xfrm>
            <a:off x="6850397" y="118631"/>
            <a:ext cx="688736" cy="545572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F70B8FD3-0ED3-4DAE-AD90-87958B12CC9A}"/>
              </a:ext>
            </a:extLst>
          </p:cNvPr>
          <p:cNvSpPr/>
          <p:nvPr/>
        </p:nvSpPr>
        <p:spPr>
          <a:xfrm>
            <a:off x="336884" y="818147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2F65780-D349-448B-8B0D-20A4FA9C7486}"/>
              </a:ext>
            </a:extLst>
          </p:cNvPr>
          <p:cNvSpPr txBox="1"/>
          <p:nvPr/>
        </p:nvSpPr>
        <p:spPr>
          <a:xfrm>
            <a:off x="336883" y="834553"/>
            <a:ext cx="6946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Hematopoietic</a:t>
            </a:r>
            <a:r>
              <a:rPr lang="de-DE" dirty="0"/>
              <a:t> Differentiation 12</a:t>
            </a:r>
          </a:p>
          <a:p>
            <a:r>
              <a:rPr lang="de-DE" dirty="0">
                <a:highlight>
                  <a:srgbClr val="FFFF00"/>
                </a:highlight>
              </a:rPr>
              <a:t>#HD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</a:t>
            </a:r>
          </a:p>
          <a:p>
            <a:r>
              <a:rPr lang="de-DE" dirty="0"/>
              <a:t>Creator: Willem </a:t>
            </a:r>
            <a:r>
              <a:rPr lang="de-DE" dirty="0" err="1"/>
              <a:t>Buys</a:t>
            </a:r>
            <a:endParaRPr lang="de-DE" dirty="0"/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trigas_inucubator</a:t>
            </a:r>
            <a:r>
              <a:rPr lang="de-DE" dirty="0"/>
              <a:t>, […]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DBC971B-E271-434C-AB9A-D7A0BC82710C}"/>
              </a:ext>
            </a:extLst>
          </p:cNvPr>
          <p:cNvSpPr/>
          <p:nvPr/>
        </p:nvSpPr>
        <p:spPr>
          <a:xfrm>
            <a:off x="336884" y="2338500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222FB19-2878-427C-AAF5-0F3CDC23DFC0}"/>
              </a:ext>
            </a:extLst>
          </p:cNvPr>
          <p:cNvSpPr txBox="1"/>
          <p:nvPr/>
        </p:nvSpPr>
        <p:spPr>
          <a:xfrm>
            <a:off x="336883" y="2354906"/>
            <a:ext cx="58402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Mesoderm Differentiation 2</a:t>
            </a:r>
          </a:p>
          <a:p>
            <a:r>
              <a:rPr lang="de-DE" dirty="0">
                <a:solidFill>
                  <a:schemeClr val="bg1"/>
                </a:solidFill>
                <a:highlight>
                  <a:srgbClr val="800080"/>
                </a:highlight>
              </a:rPr>
              <a:t>#MD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highlight>
                  <a:srgbClr val="FF00FF"/>
                </a:highlight>
              </a:rPr>
              <a:t>#qPCR</a:t>
            </a:r>
          </a:p>
          <a:p>
            <a:r>
              <a:rPr lang="de-DE" dirty="0" err="1"/>
              <a:t>Authors</a:t>
            </a:r>
            <a:r>
              <a:rPr lang="de-DE" dirty="0"/>
              <a:t>: Willem </a:t>
            </a:r>
            <a:r>
              <a:rPr lang="de-DE" dirty="0" err="1"/>
              <a:t>Buys</a:t>
            </a:r>
            <a:r>
              <a:rPr lang="de-DE" dirty="0"/>
              <a:t>, Aljoscha Erlebach</a:t>
            </a:r>
          </a:p>
          <a:p>
            <a:r>
              <a:rPr lang="de-DE" dirty="0"/>
              <a:t>Resources: E32C4_iPSC, </a:t>
            </a:r>
            <a:r>
              <a:rPr lang="de-DE" dirty="0" err="1"/>
              <a:t>trigas_inucubator</a:t>
            </a:r>
            <a:r>
              <a:rPr lang="de-DE" dirty="0"/>
              <a:t>, </a:t>
            </a:r>
            <a:r>
              <a:rPr lang="de-DE" dirty="0" err="1"/>
              <a:t>Thermocycler</a:t>
            </a:r>
            <a:r>
              <a:rPr lang="de-DE" dirty="0"/>
              <a:t>, […]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ECDAE12-8940-4B3E-B115-A1C7C43311B7}"/>
              </a:ext>
            </a:extLst>
          </p:cNvPr>
          <p:cNvSpPr/>
          <p:nvPr/>
        </p:nvSpPr>
        <p:spPr>
          <a:xfrm>
            <a:off x="336884" y="3858853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0B78CD6-1248-4EC7-9B66-297E3F9C0A6F}"/>
              </a:ext>
            </a:extLst>
          </p:cNvPr>
          <p:cNvSpPr txBox="1"/>
          <p:nvPr/>
        </p:nvSpPr>
        <p:spPr>
          <a:xfrm>
            <a:off x="336883" y="3875259"/>
            <a:ext cx="65135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Hematopoietic</a:t>
            </a:r>
            <a:r>
              <a:rPr lang="de-DE" dirty="0"/>
              <a:t> Differentiation 11</a:t>
            </a:r>
          </a:p>
          <a:p>
            <a:r>
              <a:rPr lang="de-DE" dirty="0">
                <a:highlight>
                  <a:srgbClr val="FFFF00"/>
                </a:highlight>
              </a:rPr>
              <a:t>#HD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highlight>
                  <a:srgbClr val="FF00FF"/>
                </a:highlight>
              </a:rPr>
              <a:t>#qPCR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</a:t>
            </a:r>
          </a:p>
          <a:p>
            <a:r>
              <a:rPr lang="de-DE" dirty="0"/>
              <a:t>Creator: Willem </a:t>
            </a:r>
            <a:r>
              <a:rPr lang="de-DE" dirty="0" err="1"/>
              <a:t>Buys</a:t>
            </a:r>
            <a:endParaRPr lang="de-DE" dirty="0"/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Thermocycler</a:t>
            </a:r>
            <a:r>
              <a:rPr lang="de-DE" dirty="0"/>
              <a:t>, […]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2B66FF0-A551-4188-A385-B7093C2DEBDF}"/>
              </a:ext>
            </a:extLst>
          </p:cNvPr>
          <p:cNvSpPr/>
          <p:nvPr/>
        </p:nvSpPr>
        <p:spPr>
          <a:xfrm>
            <a:off x="336884" y="5312572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67A03545-2F6F-4B24-B03C-0BDAAFE9EFB6}"/>
              </a:ext>
            </a:extLst>
          </p:cNvPr>
          <p:cNvSpPr txBox="1"/>
          <p:nvPr/>
        </p:nvSpPr>
        <p:spPr>
          <a:xfrm>
            <a:off x="336883" y="5328978"/>
            <a:ext cx="69464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TIRN </a:t>
            </a:r>
            <a:r>
              <a:rPr lang="de-DE" dirty="0" err="1"/>
              <a:t>optimization</a:t>
            </a:r>
            <a:r>
              <a:rPr lang="de-DE" dirty="0"/>
              <a:t> 9</a:t>
            </a:r>
          </a:p>
          <a:p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highlight>
                  <a:srgbClr val="00FFFF"/>
                </a:highlight>
              </a:rPr>
              <a:t>#MaintenanceCulture</a:t>
            </a:r>
          </a:p>
          <a:p>
            <a:r>
              <a:rPr lang="de-DE" dirty="0"/>
              <a:t>Creator: Aljoscha Erlebach</a:t>
            </a:r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trigas_inucubator</a:t>
            </a:r>
            <a:r>
              <a:rPr lang="de-DE" dirty="0"/>
              <a:t>, […]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27CF054-5D14-4EB9-A0A5-C0D50BC61B3D}"/>
              </a:ext>
            </a:extLst>
          </p:cNvPr>
          <p:cNvSpPr txBox="1"/>
          <p:nvPr/>
        </p:nvSpPr>
        <p:spPr>
          <a:xfrm>
            <a:off x="336883" y="265973"/>
            <a:ext cx="352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Standard </a:t>
            </a:r>
            <a:r>
              <a:rPr lang="de-DE" u="sng" dirty="0" err="1"/>
              <a:t>eLABFTW</a:t>
            </a:r>
            <a:r>
              <a:rPr lang="de-DE" u="sng" dirty="0"/>
              <a:t> </a:t>
            </a:r>
            <a:r>
              <a:rPr lang="de-DE" u="sng" dirty="0" err="1"/>
              <a:t>experiment</a:t>
            </a:r>
            <a:r>
              <a:rPr lang="de-DE" u="sng" dirty="0"/>
              <a:t> hub</a:t>
            </a:r>
          </a:p>
        </p:txBody>
      </p:sp>
      <p:pic>
        <p:nvPicPr>
          <p:cNvPr id="16" name="Grafik 15" descr="Cursor mit einfarbiger Füllung">
            <a:extLst>
              <a:ext uri="{FF2B5EF4-FFF2-40B4-BE49-F238E27FC236}">
                <a16:creationId xmlns:a16="http://schemas.microsoft.com/office/drawing/2014/main" id="{F8510611-3747-4286-AC1E-BDE0F8617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4149" y="1914482"/>
            <a:ext cx="914400" cy="9144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03D81EF-1C16-49C9-B139-AABF2F01124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36883" y="797733"/>
            <a:ext cx="2855495" cy="226193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20F9EF6-292B-47E1-95C2-A4A16C5A5A3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6047872" y="797731"/>
            <a:ext cx="2855495" cy="226193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5C3E07A-8550-4904-94A7-B9F4136696A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192377" y="797731"/>
            <a:ext cx="2855495" cy="2261937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D0BB9D1-C1E0-4781-AD86-BE80F74B974C}"/>
              </a:ext>
            </a:extLst>
          </p:cNvPr>
          <p:cNvSpPr txBox="1"/>
          <p:nvPr/>
        </p:nvSpPr>
        <p:spPr>
          <a:xfrm>
            <a:off x="914333" y="3059668"/>
            <a:ext cx="1700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Flow </a:t>
            </a:r>
            <a:r>
              <a:rPr lang="de-DE" b="1" dirty="0" err="1"/>
              <a:t>Cytometry</a:t>
            </a:r>
            <a:endParaRPr lang="de-DE" b="1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5CE6664-009A-476C-92F2-912EAB9210DC}"/>
              </a:ext>
            </a:extLst>
          </p:cNvPr>
          <p:cNvSpPr txBox="1"/>
          <p:nvPr/>
        </p:nvSpPr>
        <p:spPr>
          <a:xfrm>
            <a:off x="3769827" y="3059668"/>
            <a:ext cx="1592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Differentiation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4FA80D5-E3D9-4F10-BB0B-5E7F8C639B83}"/>
              </a:ext>
            </a:extLst>
          </p:cNvPr>
          <p:cNvSpPr txBox="1"/>
          <p:nvPr/>
        </p:nvSpPr>
        <p:spPr>
          <a:xfrm>
            <a:off x="7154858" y="30596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TIRN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0DD1693-02EF-4D18-95F4-CC55F69F97B6}"/>
              </a:ext>
            </a:extLst>
          </p:cNvPr>
          <p:cNvSpPr txBox="1"/>
          <p:nvPr/>
        </p:nvSpPr>
        <p:spPr>
          <a:xfrm>
            <a:off x="336883" y="272352"/>
            <a:ext cx="449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Putative pseudo-folder </a:t>
            </a:r>
            <a:r>
              <a:rPr lang="de-DE" u="sng" dirty="0" err="1"/>
              <a:t>navigator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</a:t>
            </a:r>
            <a:r>
              <a:rPr lang="de-DE" u="sng" dirty="0" err="1"/>
              <a:t>eLabFTW</a:t>
            </a:r>
            <a:endParaRPr lang="de-DE" u="sng" dirty="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6FF62DD7-6688-4E14-9479-FC43689F96AC}"/>
              </a:ext>
            </a:extLst>
          </p:cNvPr>
          <p:cNvGrpSpPr/>
          <p:nvPr/>
        </p:nvGrpSpPr>
        <p:grpSpPr>
          <a:xfrm>
            <a:off x="8069154" y="3334114"/>
            <a:ext cx="4021828" cy="3414992"/>
            <a:chOff x="8069154" y="3334114"/>
            <a:chExt cx="4021828" cy="3414992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318B58F-6B99-401C-9C6E-089D1F29217A}"/>
                </a:ext>
              </a:extLst>
            </p:cNvPr>
            <p:cNvSpPr/>
            <p:nvPr/>
          </p:nvSpPr>
          <p:spPr>
            <a:xfrm>
              <a:off x="8452098" y="3541360"/>
              <a:ext cx="3416300" cy="279003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BC4D0505-3F21-4825-847F-FB9B8BA1B573}"/>
                </a:ext>
              </a:extLst>
            </p:cNvPr>
            <p:cNvSpPr/>
            <p:nvPr/>
          </p:nvSpPr>
          <p:spPr>
            <a:xfrm>
              <a:off x="8477498" y="3509371"/>
              <a:ext cx="3416300" cy="279003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DBEB230-EBAF-4FFF-91CA-60E66F3114CB}"/>
                </a:ext>
              </a:extLst>
            </p:cNvPr>
            <p:cNvSpPr/>
            <p:nvPr/>
          </p:nvSpPr>
          <p:spPr>
            <a:xfrm>
              <a:off x="8540884" y="4033291"/>
              <a:ext cx="406400" cy="2266112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76970147-D05C-4AA3-A6AB-F45C59258C8D}"/>
                </a:ext>
              </a:extLst>
            </p:cNvPr>
            <p:cNvSpPr/>
            <p:nvPr/>
          </p:nvSpPr>
          <p:spPr>
            <a:xfrm>
              <a:off x="9010670" y="4033291"/>
              <a:ext cx="406400" cy="22661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87BC7283-03F4-44C2-A8DA-FC0443C481FF}"/>
                </a:ext>
              </a:extLst>
            </p:cNvPr>
            <p:cNvSpPr/>
            <p:nvPr/>
          </p:nvSpPr>
          <p:spPr>
            <a:xfrm>
              <a:off x="9480456" y="4033291"/>
              <a:ext cx="406400" cy="22661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E53A4D6E-B789-4122-9735-F4A7F9E48A20}"/>
                </a:ext>
              </a:extLst>
            </p:cNvPr>
            <p:cNvSpPr/>
            <p:nvPr/>
          </p:nvSpPr>
          <p:spPr>
            <a:xfrm>
              <a:off x="9950242" y="4788095"/>
              <a:ext cx="406400" cy="1511308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6348CBAF-81DF-443A-8B09-D189DD9CE041}"/>
                </a:ext>
              </a:extLst>
            </p:cNvPr>
            <p:cNvSpPr/>
            <p:nvPr/>
          </p:nvSpPr>
          <p:spPr>
            <a:xfrm>
              <a:off x="10420028" y="4788095"/>
              <a:ext cx="406400" cy="151130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FC43748A-F9A3-43BF-A7F9-F9D144FD4CCC}"/>
                </a:ext>
              </a:extLst>
            </p:cNvPr>
            <p:cNvSpPr/>
            <p:nvPr/>
          </p:nvSpPr>
          <p:spPr>
            <a:xfrm>
              <a:off x="10889814" y="5543749"/>
              <a:ext cx="406400" cy="755654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highlight>
                  <a:srgbClr val="800080"/>
                </a:highlight>
              </a:endParaRP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BA62834-D7F4-463D-98A1-2DD3DC4F104F}"/>
                </a:ext>
              </a:extLst>
            </p:cNvPr>
            <p:cNvSpPr/>
            <p:nvPr/>
          </p:nvSpPr>
          <p:spPr>
            <a:xfrm>
              <a:off x="11359600" y="5543749"/>
              <a:ext cx="406400" cy="75565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C680AB58-1FE0-4C5D-A04E-CD166075973A}"/>
                </a:ext>
              </a:extLst>
            </p:cNvPr>
            <p:cNvSpPr txBox="1"/>
            <p:nvPr/>
          </p:nvSpPr>
          <p:spPr>
            <a:xfrm>
              <a:off x="8865222" y="6344641"/>
              <a:ext cx="26408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Tag, </a:t>
              </a:r>
              <a:r>
                <a:rPr lang="de-DE" dirty="0" err="1"/>
                <a:t>ordered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r>
                <a:rPr lang="de-DE" dirty="0"/>
                <a:t> </a:t>
              </a:r>
              <a:r>
                <a:rPr lang="de-DE" dirty="0" err="1"/>
                <a:t>group</a:t>
              </a:r>
              <a:r>
                <a:rPr lang="de-DE" dirty="0"/>
                <a:t> </a:t>
              </a:r>
              <a:r>
                <a:rPr lang="de-DE" dirty="0" err="1"/>
                <a:t>size</a:t>
              </a:r>
              <a:endParaRPr lang="de-DE" dirty="0"/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868C9B50-5813-4244-A093-B9E9C6A3C50E}"/>
                </a:ext>
              </a:extLst>
            </p:cNvPr>
            <p:cNvSpPr txBox="1"/>
            <p:nvPr/>
          </p:nvSpPr>
          <p:spPr>
            <a:xfrm rot="16200000">
              <a:off x="7764368" y="4876845"/>
              <a:ext cx="9789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Frequency</a:t>
              </a:r>
              <a:endParaRPr lang="de-DE" dirty="0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48882B3B-8508-47C6-A33C-DC2BC89956C3}"/>
                </a:ext>
              </a:extLst>
            </p:cNvPr>
            <p:cNvSpPr/>
            <p:nvPr/>
          </p:nvSpPr>
          <p:spPr>
            <a:xfrm>
              <a:off x="8069154" y="3379562"/>
              <a:ext cx="4021828" cy="33695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711DA87A-A4A5-4C04-A061-9685E33D94FA}"/>
                </a:ext>
              </a:extLst>
            </p:cNvPr>
            <p:cNvSpPr txBox="1"/>
            <p:nvPr/>
          </p:nvSpPr>
          <p:spPr>
            <a:xfrm>
              <a:off x="9307916" y="3334114"/>
              <a:ext cx="18638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u="sng" dirty="0"/>
                <a:t>„</a:t>
              </a:r>
              <a:r>
                <a:rPr lang="de-DE" u="sng" dirty="0" err="1"/>
                <a:t>Under</a:t>
              </a:r>
              <a:r>
                <a:rPr lang="de-DE" u="sng" dirty="0"/>
                <a:t> </a:t>
              </a:r>
              <a:r>
                <a:rPr lang="de-DE" u="sng" dirty="0" err="1"/>
                <a:t>the</a:t>
              </a:r>
              <a:r>
                <a:rPr lang="de-DE" u="sng" dirty="0"/>
                <a:t> </a:t>
              </a:r>
              <a:r>
                <a:rPr lang="de-DE" u="sng" dirty="0" err="1"/>
                <a:t>hood</a:t>
              </a:r>
              <a:r>
                <a:rPr lang="de-DE" u="sng" dirty="0"/>
                <a:t>“</a:t>
              </a:r>
            </a:p>
          </p:txBody>
        </p:sp>
      </p:grpSp>
      <p:sp>
        <p:nvSpPr>
          <p:cNvPr id="41" name="Rechteck 40">
            <a:extLst>
              <a:ext uri="{FF2B5EF4-FFF2-40B4-BE49-F238E27FC236}">
                <a16:creationId xmlns:a16="http://schemas.microsoft.com/office/drawing/2014/main" id="{72472D69-4A5E-4EB7-9D84-83C714C31F3D}"/>
              </a:ext>
            </a:extLst>
          </p:cNvPr>
          <p:cNvSpPr/>
          <p:nvPr/>
        </p:nvSpPr>
        <p:spPr>
          <a:xfrm>
            <a:off x="8477498" y="3998158"/>
            <a:ext cx="1472744" cy="7548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2" name="Grafik 41" descr="Cursor mit einfarbiger Füllung">
            <a:extLst>
              <a:ext uri="{FF2B5EF4-FFF2-40B4-BE49-F238E27FC236}">
                <a16:creationId xmlns:a16="http://schemas.microsoft.com/office/drawing/2014/main" id="{07EBE90D-FE41-479F-9AA0-C797FB4232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2314" y="35770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0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25000" decel="2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33333E-6 L -0.0375 -0.2571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-1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/>
      <p:bldP spid="21" grpId="0"/>
      <p:bldP spid="22" grpId="0"/>
      <p:bldP spid="23" grpId="0"/>
      <p:bldP spid="24" grpId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803D81EF-1C16-49C9-B139-AABF2F011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36883" y="797733"/>
            <a:ext cx="2855495" cy="226193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20F9EF6-292B-47E1-95C2-A4A16C5A5A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6047871" y="814137"/>
            <a:ext cx="2855495" cy="226193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5C3E07A-8550-4904-94A7-B9F4136696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192377" y="797731"/>
            <a:ext cx="2855495" cy="2261937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D0BB9D1-C1E0-4781-AD86-BE80F74B974C}"/>
              </a:ext>
            </a:extLst>
          </p:cNvPr>
          <p:cNvSpPr txBox="1"/>
          <p:nvPr/>
        </p:nvSpPr>
        <p:spPr>
          <a:xfrm>
            <a:off x="914333" y="3059668"/>
            <a:ext cx="1700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Flow </a:t>
            </a:r>
            <a:r>
              <a:rPr lang="de-DE" b="1" dirty="0" err="1"/>
              <a:t>Cytometry</a:t>
            </a:r>
            <a:endParaRPr lang="de-DE" b="1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5CE6664-009A-476C-92F2-912EAB9210DC}"/>
              </a:ext>
            </a:extLst>
          </p:cNvPr>
          <p:cNvSpPr txBox="1"/>
          <p:nvPr/>
        </p:nvSpPr>
        <p:spPr>
          <a:xfrm>
            <a:off x="3769827" y="3059668"/>
            <a:ext cx="1592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Differentiation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4FA80D5-E3D9-4F10-BB0B-5E7F8C639B83}"/>
              </a:ext>
            </a:extLst>
          </p:cNvPr>
          <p:cNvSpPr txBox="1"/>
          <p:nvPr/>
        </p:nvSpPr>
        <p:spPr>
          <a:xfrm>
            <a:off x="7154858" y="30596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TIRN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0DD1693-02EF-4D18-95F4-CC55F69F97B6}"/>
              </a:ext>
            </a:extLst>
          </p:cNvPr>
          <p:cNvSpPr txBox="1"/>
          <p:nvPr/>
        </p:nvSpPr>
        <p:spPr>
          <a:xfrm>
            <a:off x="336883" y="272352"/>
            <a:ext cx="449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Putative pseudo-folder </a:t>
            </a:r>
            <a:r>
              <a:rPr lang="de-DE" u="sng" dirty="0" err="1"/>
              <a:t>navigator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</a:t>
            </a:r>
            <a:r>
              <a:rPr lang="de-DE" u="sng" dirty="0" err="1"/>
              <a:t>eLabFTW</a:t>
            </a:r>
            <a:endParaRPr lang="de-DE" u="sng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6686C682-B091-48DF-AFB5-72B250A19F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36883" y="797733"/>
            <a:ext cx="2855495" cy="226193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7F00990-8745-4B24-8987-B113A4836E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192377" y="814137"/>
            <a:ext cx="2855495" cy="2261937"/>
          </a:xfrm>
          <a:prstGeom prst="rect">
            <a:avLst/>
          </a:prstGeom>
        </p:spPr>
      </p:pic>
      <p:sp>
        <p:nvSpPr>
          <p:cNvPr id="27" name="Textfeld 26">
            <a:extLst>
              <a:ext uri="{FF2B5EF4-FFF2-40B4-BE49-F238E27FC236}">
                <a16:creationId xmlns:a16="http://schemas.microsoft.com/office/drawing/2014/main" id="{E57C81FC-5E96-48FB-9678-9126F082614E}"/>
              </a:ext>
            </a:extLst>
          </p:cNvPr>
          <p:cNvSpPr txBox="1"/>
          <p:nvPr/>
        </p:nvSpPr>
        <p:spPr>
          <a:xfrm>
            <a:off x="914333" y="3059668"/>
            <a:ext cx="1700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Flow </a:t>
            </a:r>
            <a:r>
              <a:rPr lang="de-DE" b="1" dirty="0" err="1"/>
              <a:t>Cytometry</a:t>
            </a:r>
            <a:endParaRPr lang="de-DE" b="1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8BC10656-E89E-470E-9192-8816CBDA2E19}"/>
              </a:ext>
            </a:extLst>
          </p:cNvPr>
          <p:cNvSpPr txBox="1"/>
          <p:nvPr/>
        </p:nvSpPr>
        <p:spPr>
          <a:xfrm>
            <a:off x="4299364" y="30596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TIRN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4EA340D5-FB75-4E73-9CE9-5914991D90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90" t="55208" r="5264" b="11808"/>
          <a:stretch/>
        </p:blipFill>
        <p:spPr>
          <a:xfrm>
            <a:off x="6047872" y="814137"/>
            <a:ext cx="2855495" cy="2261937"/>
          </a:xfrm>
          <a:prstGeom prst="rect">
            <a:avLst/>
          </a:prstGeom>
        </p:spPr>
      </p:pic>
      <p:sp>
        <p:nvSpPr>
          <p:cNvPr id="30" name="Textfeld 29">
            <a:extLst>
              <a:ext uri="{FF2B5EF4-FFF2-40B4-BE49-F238E27FC236}">
                <a16:creationId xmlns:a16="http://schemas.microsoft.com/office/drawing/2014/main" id="{923DE48C-1817-4694-8FB3-1548163C4A0D}"/>
              </a:ext>
            </a:extLst>
          </p:cNvPr>
          <p:cNvSpPr txBox="1"/>
          <p:nvPr/>
        </p:nvSpPr>
        <p:spPr>
          <a:xfrm>
            <a:off x="7154859" y="305966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qPCR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EC26A473-26A7-4411-B287-F558A6B7CF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47" t="55208" r="5207" b="11808"/>
          <a:stretch/>
        </p:blipFill>
        <p:spPr>
          <a:xfrm>
            <a:off x="8909280" y="814137"/>
            <a:ext cx="2855495" cy="2261937"/>
          </a:xfrm>
          <a:prstGeom prst="rect">
            <a:avLst/>
          </a:prstGeom>
        </p:spPr>
      </p:pic>
      <p:sp>
        <p:nvSpPr>
          <p:cNvPr id="32" name="Textfeld 31">
            <a:extLst>
              <a:ext uri="{FF2B5EF4-FFF2-40B4-BE49-F238E27FC236}">
                <a16:creationId xmlns:a16="http://schemas.microsoft.com/office/drawing/2014/main" id="{6870C447-4ECC-414A-AE15-FEA1FDB091B1}"/>
              </a:ext>
            </a:extLst>
          </p:cNvPr>
          <p:cNvSpPr txBox="1"/>
          <p:nvPr/>
        </p:nvSpPr>
        <p:spPr>
          <a:xfrm>
            <a:off x="10016267" y="3059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HD</a:t>
            </a:r>
          </a:p>
        </p:txBody>
      </p:sp>
      <p:pic>
        <p:nvPicPr>
          <p:cNvPr id="16" name="Grafik 15" descr="Cursor mit einfarbiger Füllung">
            <a:extLst>
              <a:ext uri="{FF2B5EF4-FFF2-40B4-BE49-F238E27FC236}">
                <a16:creationId xmlns:a16="http://schemas.microsoft.com/office/drawing/2014/main" id="{F8510611-3747-4286-AC1E-BDE0F86177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2314" y="3577026"/>
            <a:ext cx="914400" cy="9144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32AF4108-4B32-4DBD-B3FE-41D49E223707}"/>
              </a:ext>
            </a:extLst>
          </p:cNvPr>
          <p:cNvSpPr txBox="1"/>
          <p:nvPr/>
        </p:nvSpPr>
        <p:spPr>
          <a:xfrm>
            <a:off x="0" y="6488668"/>
            <a:ext cx="267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Tag </a:t>
            </a:r>
            <a:r>
              <a:rPr lang="de-DE" dirty="0" err="1"/>
              <a:t>string</a:t>
            </a:r>
            <a:r>
              <a:rPr lang="de-DE" dirty="0"/>
              <a:t>: </a:t>
            </a:r>
            <a:r>
              <a:rPr lang="de-DE" dirty="0">
                <a:highlight>
                  <a:srgbClr val="C0C0C0"/>
                </a:highlight>
              </a:rPr>
              <a:t>#Differentiation</a:t>
            </a:r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D3B8141-15EE-4FFD-BEA4-EA44FAD03246}"/>
              </a:ext>
            </a:extLst>
          </p:cNvPr>
          <p:cNvGrpSpPr>
            <a:grpSpLocks noChangeAspect="1"/>
          </p:cNvGrpSpPr>
          <p:nvPr/>
        </p:nvGrpSpPr>
        <p:grpSpPr>
          <a:xfrm>
            <a:off x="8069154" y="3356695"/>
            <a:ext cx="4021828" cy="3392411"/>
            <a:chOff x="8069154" y="2708671"/>
            <a:chExt cx="4021828" cy="4040435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700206CB-9393-4560-A6FE-49D18F53BF82}"/>
                </a:ext>
              </a:extLst>
            </p:cNvPr>
            <p:cNvSpPr/>
            <p:nvPr/>
          </p:nvSpPr>
          <p:spPr>
            <a:xfrm>
              <a:off x="8452098" y="29286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0AE2E589-51D0-4F2C-B63E-B7180A58BD36}"/>
                </a:ext>
              </a:extLst>
            </p:cNvPr>
            <p:cNvSpPr/>
            <p:nvPr/>
          </p:nvSpPr>
          <p:spPr>
            <a:xfrm>
              <a:off x="8477498" y="28905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F734728D-18FB-46B0-ACFF-6E75758A1D45}"/>
                </a:ext>
              </a:extLst>
            </p:cNvPr>
            <p:cNvSpPr/>
            <p:nvPr/>
          </p:nvSpPr>
          <p:spPr>
            <a:xfrm>
              <a:off x="8540884" y="3514512"/>
              <a:ext cx="406400" cy="269898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786ED264-2C7A-46E2-96E3-053F8E1B7ACF}"/>
                </a:ext>
              </a:extLst>
            </p:cNvPr>
            <p:cNvSpPr/>
            <p:nvPr/>
          </p:nvSpPr>
          <p:spPr>
            <a:xfrm>
              <a:off x="9010670" y="3514512"/>
              <a:ext cx="406400" cy="26989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F4431B8D-05FF-4595-9DB6-51B4FE1E265F}"/>
                </a:ext>
              </a:extLst>
            </p:cNvPr>
            <p:cNvSpPr/>
            <p:nvPr/>
          </p:nvSpPr>
          <p:spPr>
            <a:xfrm>
              <a:off x="9480456" y="3514512"/>
              <a:ext cx="406400" cy="26989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44C8D10E-BE5D-4319-99A8-FBB52EA9F23E}"/>
                </a:ext>
              </a:extLst>
            </p:cNvPr>
            <p:cNvSpPr/>
            <p:nvPr/>
          </p:nvSpPr>
          <p:spPr>
            <a:xfrm>
              <a:off x="9950242" y="4413500"/>
              <a:ext cx="406400" cy="1800000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F9BD0B0C-A288-4DCA-A724-06E5402B403F}"/>
                </a:ext>
              </a:extLst>
            </p:cNvPr>
            <p:cNvSpPr/>
            <p:nvPr/>
          </p:nvSpPr>
          <p:spPr>
            <a:xfrm>
              <a:off x="10420028" y="4413500"/>
              <a:ext cx="406400" cy="1800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EEC717FD-616D-4D62-9C3B-DB673607C2EB}"/>
                </a:ext>
              </a:extLst>
            </p:cNvPr>
            <p:cNvSpPr/>
            <p:nvPr/>
          </p:nvSpPr>
          <p:spPr>
            <a:xfrm>
              <a:off x="10889814" y="5313500"/>
              <a:ext cx="406400" cy="9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highlight>
                  <a:srgbClr val="800080"/>
                </a:highlight>
              </a:endParaRP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9A971E41-AAFF-4E53-8AA0-AA570C56A61D}"/>
                </a:ext>
              </a:extLst>
            </p:cNvPr>
            <p:cNvSpPr/>
            <p:nvPr/>
          </p:nvSpPr>
          <p:spPr>
            <a:xfrm>
              <a:off x="11359600" y="5313500"/>
              <a:ext cx="406400" cy="90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E64CF5F2-3AA7-4E0C-A563-5BA4F8CA7E1F}"/>
                </a:ext>
              </a:extLst>
            </p:cNvPr>
            <p:cNvSpPr txBox="1"/>
            <p:nvPr/>
          </p:nvSpPr>
          <p:spPr>
            <a:xfrm>
              <a:off x="8865222" y="6267379"/>
              <a:ext cx="2640851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Tag, </a:t>
              </a:r>
              <a:r>
                <a:rPr lang="de-DE" dirty="0" err="1"/>
                <a:t>ordered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r>
                <a:rPr lang="de-DE" dirty="0"/>
                <a:t> </a:t>
              </a:r>
              <a:r>
                <a:rPr lang="de-DE" dirty="0" err="1"/>
                <a:t>group</a:t>
              </a:r>
              <a:r>
                <a:rPr lang="de-DE" dirty="0"/>
                <a:t> </a:t>
              </a:r>
              <a:r>
                <a:rPr lang="de-DE" dirty="0" err="1"/>
                <a:t>size</a:t>
              </a:r>
              <a:endParaRPr lang="de-DE" dirty="0"/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8B1BD975-24CF-4274-BD01-D2222BF61B2F}"/>
                </a:ext>
              </a:extLst>
            </p:cNvPr>
            <p:cNvSpPr txBox="1"/>
            <p:nvPr/>
          </p:nvSpPr>
          <p:spPr>
            <a:xfrm rot="16200000">
              <a:off x="7670872" y="4554478"/>
              <a:ext cx="1165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Frequency</a:t>
              </a:r>
              <a:endParaRPr lang="de-DE" dirty="0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0EC1F431-AED4-4B30-86CF-E254B0AACFFA}"/>
                </a:ext>
              </a:extLst>
            </p:cNvPr>
            <p:cNvSpPr/>
            <p:nvPr/>
          </p:nvSpPr>
          <p:spPr>
            <a:xfrm>
              <a:off x="8069154" y="2735906"/>
              <a:ext cx="4021828" cy="4013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B52A9D60-BD0D-4552-9E91-0C4669BC78D0}"/>
                </a:ext>
              </a:extLst>
            </p:cNvPr>
            <p:cNvSpPr txBox="1"/>
            <p:nvPr/>
          </p:nvSpPr>
          <p:spPr>
            <a:xfrm>
              <a:off x="9253725" y="2708671"/>
              <a:ext cx="1863844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u="sng" dirty="0"/>
                <a:t>„</a:t>
              </a:r>
              <a:r>
                <a:rPr lang="de-DE" u="sng" dirty="0" err="1"/>
                <a:t>Under</a:t>
              </a:r>
              <a:r>
                <a:rPr lang="de-DE" u="sng" dirty="0"/>
                <a:t> </a:t>
              </a:r>
              <a:r>
                <a:rPr lang="de-DE" u="sng" dirty="0" err="1"/>
                <a:t>the</a:t>
              </a:r>
              <a:r>
                <a:rPr lang="de-DE" u="sng" dirty="0"/>
                <a:t> </a:t>
              </a:r>
              <a:r>
                <a:rPr lang="de-DE" u="sng" dirty="0" err="1"/>
                <a:t>hood</a:t>
              </a:r>
              <a:r>
                <a:rPr lang="de-DE" u="sng" dirty="0"/>
                <a:t>“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E632E987-3CE9-4EF1-8AA4-389C31F6C1FA}"/>
              </a:ext>
            </a:extLst>
          </p:cNvPr>
          <p:cNvGrpSpPr>
            <a:grpSpLocks noChangeAspect="1"/>
          </p:cNvGrpSpPr>
          <p:nvPr/>
        </p:nvGrpSpPr>
        <p:grpSpPr>
          <a:xfrm>
            <a:off x="8069154" y="3356695"/>
            <a:ext cx="4021828" cy="3392411"/>
            <a:chOff x="8069154" y="2708671"/>
            <a:chExt cx="4021828" cy="4040435"/>
          </a:xfrm>
        </p:grpSpPr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11170D70-D0B0-4E0B-8379-4E381622381E}"/>
                </a:ext>
              </a:extLst>
            </p:cNvPr>
            <p:cNvSpPr/>
            <p:nvPr/>
          </p:nvSpPr>
          <p:spPr>
            <a:xfrm>
              <a:off x="8452098" y="29286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33BB27E6-0DC9-44A7-8E86-CAB39C8E4341}"/>
                </a:ext>
              </a:extLst>
            </p:cNvPr>
            <p:cNvSpPr/>
            <p:nvPr/>
          </p:nvSpPr>
          <p:spPr>
            <a:xfrm>
              <a:off x="8477498" y="28905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2DDF668A-6D81-46D3-97B6-2F7A88349A14}"/>
                </a:ext>
              </a:extLst>
            </p:cNvPr>
            <p:cNvSpPr/>
            <p:nvPr/>
          </p:nvSpPr>
          <p:spPr>
            <a:xfrm>
              <a:off x="8540884" y="4413497"/>
              <a:ext cx="406400" cy="1800003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E742A6CC-BCB9-4BF9-AF47-69D7A67B5F78}"/>
                </a:ext>
              </a:extLst>
            </p:cNvPr>
            <p:cNvSpPr/>
            <p:nvPr/>
          </p:nvSpPr>
          <p:spPr>
            <a:xfrm>
              <a:off x="9010556" y="4413497"/>
              <a:ext cx="406400" cy="18000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123BF7F2-83CD-42F9-8F7F-88E285FBC8E5}"/>
                </a:ext>
              </a:extLst>
            </p:cNvPr>
            <p:cNvSpPr/>
            <p:nvPr/>
          </p:nvSpPr>
          <p:spPr>
            <a:xfrm>
              <a:off x="9480342" y="4413499"/>
              <a:ext cx="406400" cy="1800001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DD4DB9A9-EEA4-4D76-84D8-B9A683D08B02}"/>
                </a:ext>
              </a:extLst>
            </p:cNvPr>
            <p:cNvSpPr/>
            <p:nvPr/>
          </p:nvSpPr>
          <p:spPr>
            <a:xfrm>
              <a:off x="9950128" y="4413499"/>
              <a:ext cx="406400" cy="180000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674F71A0-EA8E-4F9E-94BD-7C71A40E4A8F}"/>
                </a:ext>
              </a:extLst>
            </p:cNvPr>
            <p:cNvSpPr/>
            <p:nvPr/>
          </p:nvSpPr>
          <p:spPr>
            <a:xfrm>
              <a:off x="10432614" y="5313500"/>
              <a:ext cx="406400" cy="9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highlight>
                  <a:srgbClr val="800080"/>
                </a:highlight>
              </a:endParaRP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BBC3527A-5282-4CDF-971A-6E25C6FD6283}"/>
                </a:ext>
              </a:extLst>
            </p:cNvPr>
            <p:cNvSpPr txBox="1"/>
            <p:nvPr/>
          </p:nvSpPr>
          <p:spPr>
            <a:xfrm>
              <a:off x="8865222" y="6267379"/>
              <a:ext cx="2640851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Tag, </a:t>
              </a:r>
              <a:r>
                <a:rPr lang="de-DE" dirty="0" err="1"/>
                <a:t>ordered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r>
                <a:rPr lang="de-DE" dirty="0"/>
                <a:t> </a:t>
              </a:r>
              <a:r>
                <a:rPr lang="de-DE" dirty="0" err="1"/>
                <a:t>group</a:t>
              </a:r>
              <a:r>
                <a:rPr lang="de-DE" dirty="0"/>
                <a:t> </a:t>
              </a:r>
              <a:r>
                <a:rPr lang="de-DE" dirty="0" err="1"/>
                <a:t>size</a:t>
              </a:r>
              <a:endParaRPr lang="de-DE" dirty="0"/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33E47D76-1907-4AB2-B012-9E18E35F8220}"/>
                </a:ext>
              </a:extLst>
            </p:cNvPr>
            <p:cNvSpPr txBox="1"/>
            <p:nvPr/>
          </p:nvSpPr>
          <p:spPr>
            <a:xfrm rot="16200000">
              <a:off x="7670872" y="4554478"/>
              <a:ext cx="1165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Frequency</a:t>
              </a:r>
              <a:endParaRPr lang="de-DE" dirty="0"/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F833E8B9-A812-4051-948E-DDF1C8BF8C0B}"/>
                </a:ext>
              </a:extLst>
            </p:cNvPr>
            <p:cNvSpPr/>
            <p:nvPr/>
          </p:nvSpPr>
          <p:spPr>
            <a:xfrm>
              <a:off x="8069154" y="2735906"/>
              <a:ext cx="4021828" cy="4013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59776566-0601-4B5E-AE84-5FDC68EE7583}"/>
                </a:ext>
              </a:extLst>
            </p:cNvPr>
            <p:cNvSpPr txBox="1"/>
            <p:nvPr/>
          </p:nvSpPr>
          <p:spPr>
            <a:xfrm>
              <a:off x="9253725" y="2708671"/>
              <a:ext cx="1863844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u="sng" dirty="0"/>
                <a:t>„</a:t>
              </a:r>
              <a:r>
                <a:rPr lang="de-DE" u="sng" dirty="0" err="1"/>
                <a:t>Under</a:t>
              </a:r>
              <a:r>
                <a:rPr lang="de-DE" u="sng" dirty="0"/>
                <a:t> </a:t>
              </a:r>
              <a:r>
                <a:rPr lang="de-DE" u="sng" dirty="0" err="1"/>
                <a:t>the</a:t>
              </a:r>
              <a:r>
                <a:rPr lang="de-DE" u="sng" dirty="0"/>
                <a:t> </a:t>
              </a:r>
              <a:r>
                <a:rPr lang="de-DE" u="sng" dirty="0" err="1"/>
                <a:t>hood</a:t>
              </a:r>
              <a:r>
                <a:rPr lang="de-DE" u="sng" dirty="0"/>
                <a:t>“</a:t>
              </a:r>
            </a:p>
          </p:txBody>
        </p:sp>
      </p:grpSp>
      <p:sp>
        <p:nvSpPr>
          <p:cNvPr id="61" name="Rechteck 60">
            <a:extLst>
              <a:ext uri="{FF2B5EF4-FFF2-40B4-BE49-F238E27FC236}">
                <a16:creationId xmlns:a16="http://schemas.microsoft.com/office/drawing/2014/main" id="{26C11042-9267-45C6-A506-8630BE72E75A}"/>
              </a:ext>
            </a:extLst>
          </p:cNvPr>
          <p:cNvSpPr/>
          <p:nvPr/>
        </p:nvSpPr>
        <p:spPr>
          <a:xfrm>
            <a:off x="8477498" y="3998158"/>
            <a:ext cx="1472744" cy="7548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EF82B6DF-2E01-432D-8C04-EC6CA651534E}"/>
              </a:ext>
            </a:extLst>
          </p:cNvPr>
          <p:cNvSpPr/>
          <p:nvPr/>
        </p:nvSpPr>
        <p:spPr>
          <a:xfrm>
            <a:off x="8496340" y="4766210"/>
            <a:ext cx="1911102" cy="7548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3" name="Grafik 62" descr="Cursor mit einfarbiger Füllung">
            <a:extLst>
              <a:ext uri="{FF2B5EF4-FFF2-40B4-BE49-F238E27FC236}">
                <a16:creationId xmlns:a16="http://schemas.microsoft.com/office/drawing/2014/main" id="{7F3BFAF5-F75A-4DD3-A20C-81A18AFB47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654" y="42202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3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25000" decel="2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00579 L -0.0375 -0.2571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53" y="-1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7" grpId="0"/>
      <p:bldP spid="28" grpId="0"/>
      <p:bldP spid="30" grpId="0"/>
      <p:bldP spid="32" grpId="0"/>
      <p:bldP spid="2" grpId="0"/>
      <p:bldP spid="61" grpId="0" animBg="1"/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>
            <a:extLst>
              <a:ext uri="{FF2B5EF4-FFF2-40B4-BE49-F238E27FC236}">
                <a16:creationId xmlns:a16="http://schemas.microsoft.com/office/drawing/2014/main" id="{803D81EF-1C16-49C9-B139-AABF2F0112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36883" y="797733"/>
            <a:ext cx="2855495" cy="2261937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20F9EF6-292B-47E1-95C2-A4A16C5A5A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13" t="55263" r="35541" b="11753"/>
          <a:stretch/>
        </p:blipFill>
        <p:spPr>
          <a:xfrm>
            <a:off x="3192377" y="814137"/>
            <a:ext cx="2855495" cy="2261937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0D0BB9D1-C1E0-4781-AD86-BE80F74B974C}"/>
              </a:ext>
            </a:extLst>
          </p:cNvPr>
          <p:cNvSpPr txBox="1"/>
          <p:nvPr/>
        </p:nvSpPr>
        <p:spPr>
          <a:xfrm>
            <a:off x="914333" y="3059668"/>
            <a:ext cx="1700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Flow </a:t>
            </a:r>
            <a:r>
              <a:rPr lang="de-DE" b="1" dirty="0" err="1"/>
              <a:t>Cytometry</a:t>
            </a:r>
            <a:endParaRPr lang="de-DE" b="1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4FA80D5-E3D9-4F10-BB0B-5E7F8C639B83}"/>
              </a:ext>
            </a:extLst>
          </p:cNvPr>
          <p:cNvSpPr txBox="1"/>
          <p:nvPr/>
        </p:nvSpPr>
        <p:spPr>
          <a:xfrm>
            <a:off x="4299364" y="30596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TIRN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0DD1693-02EF-4D18-95F4-CC55F69F97B6}"/>
              </a:ext>
            </a:extLst>
          </p:cNvPr>
          <p:cNvSpPr txBox="1"/>
          <p:nvPr/>
        </p:nvSpPr>
        <p:spPr>
          <a:xfrm>
            <a:off x="336883" y="272352"/>
            <a:ext cx="449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Putative pseudo-folder </a:t>
            </a:r>
            <a:r>
              <a:rPr lang="de-DE" u="sng" dirty="0" err="1"/>
              <a:t>navigator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</a:t>
            </a:r>
            <a:r>
              <a:rPr lang="de-DE" u="sng" dirty="0" err="1"/>
              <a:t>eLabFTW</a:t>
            </a:r>
            <a:endParaRPr lang="de-DE" u="sng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3DF1708-77AB-4635-9B23-8AB84AB42E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rgbClr val="FF00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90" t="55208" r="5264" b="11808"/>
          <a:stretch/>
        </p:blipFill>
        <p:spPr>
          <a:xfrm>
            <a:off x="6047872" y="814137"/>
            <a:ext cx="2855495" cy="226193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B206F70-7548-447F-9DFD-E1320FA00905}"/>
              </a:ext>
            </a:extLst>
          </p:cNvPr>
          <p:cNvSpPr txBox="1"/>
          <p:nvPr/>
        </p:nvSpPr>
        <p:spPr>
          <a:xfrm>
            <a:off x="7154859" y="3059668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qPCR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A2A9249-5AAD-48EA-A8DE-CF487BA86D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47" t="55208" r="5207" b="11808"/>
          <a:stretch/>
        </p:blipFill>
        <p:spPr>
          <a:xfrm>
            <a:off x="8909280" y="814137"/>
            <a:ext cx="2855495" cy="2261937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29A097BE-1347-4F97-8234-52440EEC6537}"/>
              </a:ext>
            </a:extLst>
          </p:cNvPr>
          <p:cNvSpPr txBox="1"/>
          <p:nvPr/>
        </p:nvSpPr>
        <p:spPr>
          <a:xfrm>
            <a:off x="10016267" y="305966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HD</a:t>
            </a:r>
          </a:p>
        </p:txBody>
      </p:sp>
      <p:pic>
        <p:nvPicPr>
          <p:cNvPr id="17" name="Grafik 16" descr="Cursor mit einfarbiger Füllung">
            <a:extLst>
              <a:ext uri="{FF2B5EF4-FFF2-40B4-BE49-F238E27FC236}">
                <a16:creationId xmlns:a16="http://schemas.microsoft.com/office/drawing/2014/main" id="{2B082EAB-5675-4409-9885-52631DF95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654" y="4220222"/>
            <a:ext cx="914400" cy="91440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D213D27F-5A3F-4915-BF7E-F039093F5B54}"/>
              </a:ext>
            </a:extLst>
          </p:cNvPr>
          <p:cNvSpPr txBox="1"/>
          <p:nvPr/>
        </p:nvSpPr>
        <p:spPr>
          <a:xfrm>
            <a:off x="0" y="6488668"/>
            <a:ext cx="3393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Tag </a:t>
            </a:r>
            <a:r>
              <a:rPr lang="de-DE" dirty="0" err="1"/>
              <a:t>string</a:t>
            </a:r>
            <a:r>
              <a:rPr lang="de-DE" dirty="0"/>
              <a:t>: </a:t>
            </a:r>
            <a:r>
              <a:rPr lang="de-DE" dirty="0">
                <a:highlight>
                  <a:srgbClr val="C0C0C0"/>
                </a:highlight>
              </a:rPr>
              <a:t>#Differentiation</a:t>
            </a:r>
            <a:r>
              <a:rPr lang="de-DE" dirty="0"/>
              <a:t>, </a:t>
            </a:r>
            <a:r>
              <a:rPr lang="de-DE" dirty="0">
                <a:highlight>
                  <a:srgbClr val="FF00FF"/>
                </a:highlight>
              </a:rPr>
              <a:t>#qPCR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651FE39-7E8C-4EAB-B336-1E6C037B8F4A}"/>
              </a:ext>
            </a:extLst>
          </p:cNvPr>
          <p:cNvSpPr txBox="1"/>
          <p:nvPr/>
        </p:nvSpPr>
        <p:spPr>
          <a:xfrm>
            <a:off x="0" y="6488668"/>
            <a:ext cx="267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Tag </a:t>
            </a:r>
            <a:r>
              <a:rPr lang="de-DE" dirty="0" err="1"/>
              <a:t>string</a:t>
            </a:r>
            <a:r>
              <a:rPr lang="de-DE" dirty="0"/>
              <a:t>: </a:t>
            </a:r>
            <a:r>
              <a:rPr lang="de-DE" dirty="0">
                <a:highlight>
                  <a:srgbClr val="C0C0C0"/>
                </a:highlight>
              </a:rPr>
              <a:t>#Differentiation</a:t>
            </a:r>
            <a:endParaRPr lang="de-DE" dirty="0">
              <a:highlight>
                <a:srgbClr val="FF00FF"/>
              </a:highlight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C4461E2-1799-4606-86BD-6FAB696A6AA3}"/>
              </a:ext>
            </a:extLst>
          </p:cNvPr>
          <p:cNvSpPr txBox="1"/>
          <p:nvPr/>
        </p:nvSpPr>
        <p:spPr>
          <a:xfrm>
            <a:off x="336883" y="272352"/>
            <a:ext cx="651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Terminal </a:t>
            </a:r>
            <a:r>
              <a:rPr lang="de-DE" u="sng" dirty="0" err="1"/>
              <a:t>branches</a:t>
            </a:r>
            <a:r>
              <a:rPr lang="de-DE" u="sng" dirty="0"/>
              <a:t> </a:t>
            </a:r>
            <a:r>
              <a:rPr lang="de-DE" u="sng" dirty="0" err="1"/>
              <a:t>of</a:t>
            </a:r>
            <a:r>
              <a:rPr lang="de-DE" u="sng" dirty="0"/>
              <a:t> Putative pseudo-folder </a:t>
            </a:r>
            <a:r>
              <a:rPr lang="de-DE" u="sng" dirty="0" err="1"/>
              <a:t>navigator</a:t>
            </a:r>
            <a:r>
              <a:rPr lang="de-DE" u="sng" dirty="0"/>
              <a:t> </a:t>
            </a:r>
            <a:r>
              <a:rPr lang="de-DE" u="sng" dirty="0" err="1"/>
              <a:t>for</a:t>
            </a:r>
            <a:r>
              <a:rPr lang="de-DE" u="sng" dirty="0"/>
              <a:t> </a:t>
            </a:r>
            <a:r>
              <a:rPr lang="de-DE" u="sng" dirty="0" err="1"/>
              <a:t>eLabFTW</a:t>
            </a:r>
            <a:endParaRPr lang="de-DE" u="sng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23A7F69-4C10-4DD7-9DE9-3CA9257E43CE}"/>
              </a:ext>
            </a:extLst>
          </p:cNvPr>
          <p:cNvSpPr/>
          <p:nvPr/>
        </p:nvSpPr>
        <p:spPr>
          <a:xfrm>
            <a:off x="336884" y="893159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E3663180-C019-4889-A123-6A8B812AAF5D}"/>
              </a:ext>
            </a:extLst>
          </p:cNvPr>
          <p:cNvSpPr txBox="1"/>
          <p:nvPr/>
        </p:nvSpPr>
        <p:spPr>
          <a:xfrm>
            <a:off x="336883" y="909565"/>
            <a:ext cx="58402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Mesoderm Differentiation 2</a:t>
            </a:r>
          </a:p>
          <a:p>
            <a:r>
              <a:rPr lang="de-DE" dirty="0">
                <a:solidFill>
                  <a:schemeClr val="bg1"/>
                </a:solidFill>
                <a:highlight>
                  <a:srgbClr val="800080"/>
                </a:highlight>
              </a:rPr>
              <a:t>#MD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highlight>
                  <a:srgbClr val="FF00FF"/>
                </a:highlight>
              </a:rPr>
              <a:t>#qPCR</a:t>
            </a:r>
          </a:p>
          <a:p>
            <a:r>
              <a:rPr lang="de-DE" dirty="0" err="1"/>
              <a:t>Authors</a:t>
            </a:r>
            <a:r>
              <a:rPr lang="de-DE" dirty="0"/>
              <a:t>: Willem </a:t>
            </a:r>
            <a:r>
              <a:rPr lang="de-DE" dirty="0" err="1"/>
              <a:t>Buys</a:t>
            </a:r>
            <a:r>
              <a:rPr lang="de-DE" dirty="0"/>
              <a:t>, Aljoscha Erlebach</a:t>
            </a:r>
          </a:p>
          <a:p>
            <a:r>
              <a:rPr lang="de-DE" dirty="0"/>
              <a:t>Resources: E32C4_iPSC, </a:t>
            </a:r>
            <a:r>
              <a:rPr lang="de-DE" dirty="0" err="1"/>
              <a:t>trigas_inucubator</a:t>
            </a:r>
            <a:r>
              <a:rPr lang="de-DE" dirty="0"/>
              <a:t>, </a:t>
            </a:r>
            <a:r>
              <a:rPr lang="de-DE" dirty="0" err="1"/>
              <a:t>Thermocycler</a:t>
            </a:r>
            <a:r>
              <a:rPr lang="de-DE" dirty="0"/>
              <a:t>, […]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BBBD14F-BA6C-48BA-B1D3-25A782123195}"/>
              </a:ext>
            </a:extLst>
          </p:cNvPr>
          <p:cNvSpPr/>
          <p:nvPr/>
        </p:nvSpPr>
        <p:spPr>
          <a:xfrm>
            <a:off x="336884" y="2413512"/>
            <a:ext cx="7186863" cy="1283369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0E90A575-93CC-4D90-9A95-705E2B80AE78}"/>
              </a:ext>
            </a:extLst>
          </p:cNvPr>
          <p:cNvSpPr txBox="1"/>
          <p:nvPr/>
        </p:nvSpPr>
        <p:spPr>
          <a:xfrm>
            <a:off x="336883" y="2429918"/>
            <a:ext cx="65135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Hematopoietic</a:t>
            </a:r>
            <a:r>
              <a:rPr lang="de-DE" dirty="0"/>
              <a:t> Differentiation 11</a:t>
            </a:r>
          </a:p>
          <a:p>
            <a:r>
              <a:rPr lang="de-DE" dirty="0">
                <a:highlight>
                  <a:srgbClr val="FFFF00"/>
                </a:highlight>
              </a:rPr>
              <a:t>#HD </a:t>
            </a:r>
            <a:r>
              <a:rPr lang="de-DE" dirty="0">
                <a:highlight>
                  <a:srgbClr val="C0C0C0"/>
                </a:highlight>
              </a:rPr>
              <a:t>#Differentiation </a:t>
            </a:r>
            <a:r>
              <a:rPr lang="de-DE" dirty="0">
                <a:highlight>
                  <a:srgbClr val="FF00FF"/>
                </a:highlight>
              </a:rPr>
              <a:t>#qPCR </a:t>
            </a:r>
            <a:r>
              <a:rPr lang="de-DE" dirty="0">
                <a:solidFill>
                  <a:schemeClr val="bg1"/>
                </a:solidFill>
                <a:highlight>
                  <a:srgbClr val="008000"/>
                </a:highlight>
              </a:rPr>
              <a:t>#FlowCytometry </a:t>
            </a:r>
            <a:r>
              <a:rPr lang="de-DE" dirty="0">
                <a:solidFill>
                  <a:schemeClr val="bg1"/>
                </a:solidFill>
                <a:highlight>
                  <a:srgbClr val="0000FF"/>
                </a:highlight>
              </a:rPr>
              <a:t>#TIRN</a:t>
            </a:r>
          </a:p>
          <a:p>
            <a:r>
              <a:rPr lang="de-DE" dirty="0"/>
              <a:t>Creator: Willem </a:t>
            </a:r>
            <a:r>
              <a:rPr lang="de-DE" dirty="0" err="1"/>
              <a:t>Buys</a:t>
            </a:r>
            <a:endParaRPr lang="de-DE" dirty="0"/>
          </a:p>
          <a:p>
            <a:r>
              <a:rPr lang="de-DE" dirty="0"/>
              <a:t>Resources: </a:t>
            </a:r>
            <a:r>
              <a:rPr lang="de-DE" dirty="0" err="1"/>
              <a:t>CytoFlex_FlowCytometer</a:t>
            </a:r>
            <a:r>
              <a:rPr lang="de-DE" dirty="0"/>
              <a:t>, E32C4_iPSC, </a:t>
            </a:r>
            <a:r>
              <a:rPr lang="de-DE" dirty="0" err="1"/>
              <a:t>Thermocycler</a:t>
            </a:r>
            <a:r>
              <a:rPr lang="de-DE" dirty="0"/>
              <a:t>, […]</a:t>
            </a:r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D39B4044-1167-4641-A9CA-E55072C6D238}"/>
              </a:ext>
            </a:extLst>
          </p:cNvPr>
          <p:cNvGrpSpPr>
            <a:grpSpLocks noChangeAspect="1"/>
          </p:cNvGrpSpPr>
          <p:nvPr/>
        </p:nvGrpSpPr>
        <p:grpSpPr>
          <a:xfrm>
            <a:off x="8069154" y="3356695"/>
            <a:ext cx="4021828" cy="3392411"/>
            <a:chOff x="8069154" y="2708671"/>
            <a:chExt cx="4021828" cy="4040435"/>
          </a:xfrm>
        </p:grpSpPr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0B0FC834-B828-4EAE-891C-36D9DE15703D}"/>
                </a:ext>
              </a:extLst>
            </p:cNvPr>
            <p:cNvSpPr/>
            <p:nvPr/>
          </p:nvSpPr>
          <p:spPr>
            <a:xfrm>
              <a:off x="8452098" y="29286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2A378CD1-6DD1-4F50-A647-17AB27E7A326}"/>
                </a:ext>
              </a:extLst>
            </p:cNvPr>
            <p:cNvSpPr/>
            <p:nvPr/>
          </p:nvSpPr>
          <p:spPr>
            <a:xfrm>
              <a:off x="8477498" y="28905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1C70968F-99B0-47C7-8587-5D9B7F4F06A1}"/>
                </a:ext>
              </a:extLst>
            </p:cNvPr>
            <p:cNvSpPr/>
            <p:nvPr/>
          </p:nvSpPr>
          <p:spPr>
            <a:xfrm>
              <a:off x="8540884" y="4413497"/>
              <a:ext cx="406400" cy="1800003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57870FB6-E8C4-4323-B344-EABF918DE9B6}"/>
                </a:ext>
              </a:extLst>
            </p:cNvPr>
            <p:cNvSpPr/>
            <p:nvPr/>
          </p:nvSpPr>
          <p:spPr>
            <a:xfrm>
              <a:off x="9010556" y="4413497"/>
              <a:ext cx="406400" cy="18000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C02693D6-FFB2-40A7-9B6E-2D65E88BE3E2}"/>
                </a:ext>
              </a:extLst>
            </p:cNvPr>
            <p:cNvSpPr/>
            <p:nvPr/>
          </p:nvSpPr>
          <p:spPr>
            <a:xfrm>
              <a:off x="9480342" y="4413499"/>
              <a:ext cx="406400" cy="1800001"/>
            </a:xfrm>
            <a:prstGeom prst="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3F88CF65-9BC2-4AAD-977F-3611ABA0CDBC}"/>
                </a:ext>
              </a:extLst>
            </p:cNvPr>
            <p:cNvSpPr/>
            <p:nvPr/>
          </p:nvSpPr>
          <p:spPr>
            <a:xfrm>
              <a:off x="9950128" y="4413499"/>
              <a:ext cx="406400" cy="180000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18A36F14-3729-4B65-92BB-4E83628DB29C}"/>
                </a:ext>
              </a:extLst>
            </p:cNvPr>
            <p:cNvSpPr/>
            <p:nvPr/>
          </p:nvSpPr>
          <p:spPr>
            <a:xfrm>
              <a:off x="10432614" y="5313500"/>
              <a:ext cx="406400" cy="9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highlight>
                  <a:srgbClr val="800080"/>
                </a:highlight>
              </a:endParaRP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8C43FF3E-C880-437C-B8E3-5F56BB2EB0B5}"/>
                </a:ext>
              </a:extLst>
            </p:cNvPr>
            <p:cNvSpPr txBox="1"/>
            <p:nvPr/>
          </p:nvSpPr>
          <p:spPr>
            <a:xfrm>
              <a:off x="8865222" y="6267379"/>
              <a:ext cx="2640851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Tag, </a:t>
              </a:r>
              <a:r>
                <a:rPr lang="de-DE" dirty="0" err="1"/>
                <a:t>ordered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r>
                <a:rPr lang="de-DE" dirty="0"/>
                <a:t> </a:t>
              </a:r>
              <a:r>
                <a:rPr lang="de-DE" dirty="0" err="1"/>
                <a:t>group</a:t>
              </a:r>
              <a:r>
                <a:rPr lang="de-DE" dirty="0"/>
                <a:t> </a:t>
              </a:r>
              <a:r>
                <a:rPr lang="de-DE" dirty="0" err="1"/>
                <a:t>size</a:t>
              </a:r>
              <a:endParaRPr lang="de-DE" dirty="0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7C6E7F78-5002-4926-B9DE-09E6F90E7590}"/>
                </a:ext>
              </a:extLst>
            </p:cNvPr>
            <p:cNvSpPr txBox="1"/>
            <p:nvPr/>
          </p:nvSpPr>
          <p:spPr>
            <a:xfrm rot="16200000">
              <a:off x="7670872" y="4554478"/>
              <a:ext cx="1165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Frequency</a:t>
              </a:r>
              <a:endParaRPr lang="de-DE" dirty="0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73CDE29A-A888-4DC0-AB2A-214E4F08B7C6}"/>
                </a:ext>
              </a:extLst>
            </p:cNvPr>
            <p:cNvSpPr/>
            <p:nvPr/>
          </p:nvSpPr>
          <p:spPr>
            <a:xfrm>
              <a:off x="8069154" y="2735906"/>
              <a:ext cx="4021828" cy="4013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18B17E01-29B9-4F42-98D7-F2649AC9E972}"/>
                </a:ext>
              </a:extLst>
            </p:cNvPr>
            <p:cNvSpPr txBox="1"/>
            <p:nvPr/>
          </p:nvSpPr>
          <p:spPr>
            <a:xfrm>
              <a:off x="9253725" y="2708671"/>
              <a:ext cx="1863844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u="sng" dirty="0"/>
                <a:t>„</a:t>
              </a:r>
              <a:r>
                <a:rPr lang="de-DE" u="sng" dirty="0" err="1"/>
                <a:t>Under</a:t>
              </a:r>
              <a:r>
                <a:rPr lang="de-DE" u="sng" dirty="0"/>
                <a:t> </a:t>
              </a:r>
              <a:r>
                <a:rPr lang="de-DE" u="sng" dirty="0" err="1"/>
                <a:t>the</a:t>
              </a:r>
              <a:r>
                <a:rPr lang="de-DE" u="sng" dirty="0"/>
                <a:t> </a:t>
              </a:r>
              <a:r>
                <a:rPr lang="de-DE" u="sng" dirty="0" err="1"/>
                <a:t>hood</a:t>
              </a:r>
              <a:r>
                <a:rPr lang="de-DE" u="sng" dirty="0"/>
                <a:t>“</a:t>
              </a:r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05BD6AFC-C324-47FB-B820-A4804FDE9EEE}"/>
              </a:ext>
            </a:extLst>
          </p:cNvPr>
          <p:cNvGrpSpPr>
            <a:grpSpLocks noChangeAspect="1"/>
          </p:cNvGrpSpPr>
          <p:nvPr/>
        </p:nvGrpSpPr>
        <p:grpSpPr>
          <a:xfrm>
            <a:off x="8069154" y="3356695"/>
            <a:ext cx="4021828" cy="3392411"/>
            <a:chOff x="8069154" y="2708671"/>
            <a:chExt cx="4021828" cy="4040435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C987351F-DBE6-41DE-8F34-7F684262CB67}"/>
                </a:ext>
              </a:extLst>
            </p:cNvPr>
            <p:cNvSpPr/>
            <p:nvPr/>
          </p:nvSpPr>
          <p:spPr>
            <a:xfrm>
              <a:off x="8452098" y="29286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0E8E4293-FF36-40F1-B390-EA781D0B8212}"/>
                </a:ext>
              </a:extLst>
            </p:cNvPr>
            <p:cNvSpPr/>
            <p:nvPr/>
          </p:nvSpPr>
          <p:spPr>
            <a:xfrm>
              <a:off x="8477498" y="2890512"/>
              <a:ext cx="3416300" cy="33229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F023B9C8-5B6F-4EB0-BA56-70EDD5C7D633}"/>
                </a:ext>
              </a:extLst>
            </p:cNvPr>
            <p:cNvSpPr/>
            <p:nvPr/>
          </p:nvSpPr>
          <p:spPr>
            <a:xfrm>
              <a:off x="8540884" y="5322092"/>
              <a:ext cx="406400" cy="891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AA3C2517-975E-44C8-8B4F-FF7B37AC7783}"/>
                </a:ext>
              </a:extLst>
            </p:cNvPr>
            <p:cNvSpPr/>
            <p:nvPr/>
          </p:nvSpPr>
          <p:spPr>
            <a:xfrm>
              <a:off x="9010556" y="5322092"/>
              <a:ext cx="406400" cy="8914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799C3A05-00E5-4773-BFB7-5113FE5240AE}"/>
                </a:ext>
              </a:extLst>
            </p:cNvPr>
            <p:cNvSpPr/>
            <p:nvPr/>
          </p:nvSpPr>
          <p:spPr>
            <a:xfrm>
              <a:off x="9467528" y="5313497"/>
              <a:ext cx="406400" cy="90000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E6F31BA5-D7E7-4E65-B317-13A5FC07CE56}"/>
                </a:ext>
              </a:extLst>
            </p:cNvPr>
            <p:cNvSpPr/>
            <p:nvPr/>
          </p:nvSpPr>
          <p:spPr>
            <a:xfrm>
              <a:off x="9950014" y="5313500"/>
              <a:ext cx="406400" cy="9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highlight>
                  <a:srgbClr val="800080"/>
                </a:highlight>
              </a:endParaRPr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F9C9565A-0391-42F6-84F0-31E299EBB581}"/>
                </a:ext>
              </a:extLst>
            </p:cNvPr>
            <p:cNvSpPr txBox="1"/>
            <p:nvPr/>
          </p:nvSpPr>
          <p:spPr>
            <a:xfrm>
              <a:off x="8865222" y="6267379"/>
              <a:ext cx="2640851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Tag, </a:t>
              </a:r>
              <a:r>
                <a:rPr lang="de-DE" dirty="0" err="1"/>
                <a:t>ordered</a:t>
              </a:r>
              <a:r>
                <a:rPr lang="de-DE" dirty="0"/>
                <a:t> </a:t>
              </a:r>
              <a:r>
                <a:rPr lang="de-DE" dirty="0" err="1"/>
                <a:t>by</a:t>
              </a:r>
              <a:r>
                <a:rPr lang="de-DE" dirty="0"/>
                <a:t> </a:t>
              </a:r>
              <a:r>
                <a:rPr lang="de-DE" dirty="0" err="1"/>
                <a:t>group</a:t>
              </a:r>
              <a:r>
                <a:rPr lang="de-DE" dirty="0"/>
                <a:t> </a:t>
              </a:r>
              <a:r>
                <a:rPr lang="de-DE" dirty="0" err="1"/>
                <a:t>size</a:t>
              </a:r>
              <a:endParaRPr lang="de-DE" dirty="0"/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52630EA5-6862-45C7-ADCD-6DF0DE767693}"/>
                </a:ext>
              </a:extLst>
            </p:cNvPr>
            <p:cNvSpPr txBox="1"/>
            <p:nvPr/>
          </p:nvSpPr>
          <p:spPr>
            <a:xfrm rot="16200000">
              <a:off x="7670872" y="4554478"/>
              <a:ext cx="11658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/>
                <a:t>Frequency</a:t>
              </a:r>
              <a:endParaRPr lang="de-DE" dirty="0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863E8587-D3A6-4001-A8C4-67A9871825B3}"/>
                </a:ext>
              </a:extLst>
            </p:cNvPr>
            <p:cNvSpPr/>
            <p:nvPr/>
          </p:nvSpPr>
          <p:spPr>
            <a:xfrm>
              <a:off x="8069154" y="2735906"/>
              <a:ext cx="4021828" cy="40132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D32D3BD3-BD2E-4EC0-968A-EFFF518947B6}"/>
                </a:ext>
              </a:extLst>
            </p:cNvPr>
            <p:cNvSpPr txBox="1"/>
            <p:nvPr/>
          </p:nvSpPr>
          <p:spPr>
            <a:xfrm>
              <a:off x="9253725" y="2708671"/>
              <a:ext cx="1863844" cy="439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u="sng" dirty="0"/>
                <a:t>„</a:t>
              </a:r>
              <a:r>
                <a:rPr lang="de-DE" u="sng" dirty="0" err="1"/>
                <a:t>Under</a:t>
              </a:r>
              <a:r>
                <a:rPr lang="de-DE" u="sng" dirty="0"/>
                <a:t> </a:t>
              </a:r>
              <a:r>
                <a:rPr lang="de-DE" u="sng" dirty="0" err="1"/>
                <a:t>the</a:t>
              </a:r>
              <a:r>
                <a:rPr lang="de-DE" u="sng" dirty="0"/>
                <a:t> </a:t>
              </a:r>
              <a:r>
                <a:rPr lang="de-DE" u="sng" dirty="0" err="1"/>
                <a:t>hood</a:t>
              </a:r>
              <a:r>
                <a:rPr lang="de-DE" u="sng" dirty="0"/>
                <a:t>“</a:t>
              </a:r>
            </a:p>
          </p:txBody>
        </p:sp>
      </p:grpSp>
      <p:sp>
        <p:nvSpPr>
          <p:cNvPr id="57" name="Rechteck 56">
            <a:extLst>
              <a:ext uri="{FF2B5EF4-FFF2-40B4-BE49-F238E27FC236}">
                <a16:creationId xmlns:a16="http://schemas.microsoft.com/office/drawing/2014/main" id="{E5AB52D9-07C4-4F58-AE9B-8B3FAF06ED9E}"/>
              </a:ext>
            </a:extLst>
          </p:cNvPr>
          <p:cNvSpPr/>
          <p:nvPr/>
        </p:nvSpPr>
        <p:spPr>
          <a:xfrm>
            <a:off x="8496340" y="4766210"/>
            <a:ext cx="1911102" cy="7548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52CE3D-810D-46B6-B707-8BD2C09616A0}"/>
              </a:ext>
            </a:extLst>
          </p:cNvPr>
          <p:cNvSpPr/>
          <p:nvPr/>
        </p:nvSpPr>
        <p:spPr>
          <a:xfrm>
            <a:off x="8496340" y="5515830"/>
            <a:ext cx="1911102" cy="75480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060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25000" decel="2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11111E-6 L 0.01459 -0.29699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" y="-1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3" grpId="0"/>
      <p:bldP spid="23" grpId="1"/>
      <p:bldP spid="24" grpId="0"/>
      <p:bldP spid="24" grpId="1"/>
      <p:bldP spid="13" grpId="0"/>
      <p:bldP spid="13" grpId="1"/>
      <p:bldP spid="15" grpId="0"/>
      <p:bldP spid="15" grpId="1"/>
      <p:bldP spid="25" grpId="0"/>
      <p:bldP spid="26" grpId="0"/>
      <p:bldP spid="27" grpId="0"/>
      <p:bldP spid="28" grpId="0" animBg="1"/>
      <p:bldP spid="29" grpId="0"/>
      <p:bldP spid="30" grpId="0" animBg="1"/>
      <p:bldP spid="31" grpId="0"/>
      <p:bldP spid="57" grpId="0" animBg="1"/>
      <p:bldP spid="58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753</Words>
  <Application>Microsoft Office PowerPoint</Application>
  <PresentationFormat>Breitbild</PresentationFormat>
  <Paragraphs>86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Heisler, Willem Dr.</dc:creator>
  <cp:lastModifiedBy>Willem Buys</cp:lastModifiedBy>
  <cp:revision>11</cp:revision>
  <dcterms:created xsi:type="dcterms:W3CDTF">2026-04-01T07:38:10Z</dcterms:created>
  <dcterms:modified xsi:type="dcterms:W3CDTF">2026-04-01T09:09:18Z</dcterms:modified>
</cp:coreProperties>
</file>