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Ex1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Ex2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3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4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020D7-749E-2DDE-BD91-3DB8E07B0D2E}" v="2" dt="2026-04-02T12:56:54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72" autoAdjust="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em Buys" userId="2c6e7480743f438e" providerId="Windows Live" clId="Web-{BD5020D7-749E-2DDE-BD91-3DB8E07B0D2E}"/>
    <pc:docChg chg="modSld">
      <pc:chgData name="Willem Buys" userId="2c6e7480743f438e" providerId="Windows Live" clId="Web-{BD5020D7-749E-2DDE-BD91-3DB8E07B0D2E}" dt="2026-04-02T12:56:54.814" v="0" actId="20577"/>
      <pc:docMkLst>
        <pc:docMk/>
      </pc:docMkLst>
      <pc:sldChg chg="modSp">
        <pc:chgData name="Willem Buys" userId="2c6e7480743f438e" providerId="Windows Live" clId="Web-{BD5020D7-749E-2DDE-BD91-3DB8E07B0D2E}" dt="2026-04-02T12:56:54.814" v="0" actId="20577"/>
        <pc:sldMkLst>
          <pc:docMk/>
          <pc:sldMk cId="1643235376" sldId="257"/>
        </pc:sldMkLst>
        <pc:spChg chg="mod">
          <ac:chgData name="Willem Buys" userId="2c6e7480743f438e" providerId="Windows Live" clId="Web-{BD5020D7-749E-2DDE-BD91-3DB8E07B0D2E}" dt="2026-04-02T12:56:54.814" v="0" actId="20577"/>
          <ac:spMkLst>
            <pc:docMk/>
            <pc:sldMk cId="1643235376" sldId="257"/>
            <ac:spMk id="1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yswill\Downloads\Willem%20Buys%20Flow%20Cytometry_V3\3%20lines%20HD%20summary%20for%20L4i%20manuscrip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d.docs.live.net/2C6E7480743F438E/Johns%20Hopkins/For%20E/L4i%20paper/HD1%20%5e0%20HD3%20%5e0%20HD9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d.docs.live.net/2C6E7480743F438E/Johns%20Hopkins/For%20E/L4i%20paper/HD1%20%5e0%20HD3%20%5e0%20HD9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buyswill\Downloads\Willem%20Buys%20Flow%20Cytometry_V3\3%20lines%20HD%20summary%20for%20L4i%20manuscript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buyswill\Downloads\Willem%20Buys%20Flow%20Cytometry_V3\3%20lines%20HD%20summary%20for%20L4i%20manuscrip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E32C6 E8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346936473189333"/>
          <c:y val="0.10169984236943093"/>
          <c:w val="0.76423497317165523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Purity!$J$2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Purity!$J$3:$J$5</c:f>
              <c:numCache>
                <c:formatCode>0.0</c:formatCode>
                <c:ptCount val="3"/>
                <c:pt idx="0">
                  <c:v>25.1</c:v>
                </c:pt>
                <c:pt idx="1">
                  <c:v>77.8</c:v>
                </c:pt>
                <c:pt idx="2">
                  <c:v>76.599999999999994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A5-4974-9FE5-6DC4978A8064}"/>
            </c:ext>
          </c:extLst>
        </c:ser>
        <c:ser>
          <c:idx val="1"/>
          <c:order val="1"/>
          <c:tx>
            <c:strRef>
              <c:f>Purity!$K$2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accent4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Purity!$K$3:$K$5</c:f>
              <c:numCache>
                <c:formatCode>General</c:formatCode>
                <c:ptCount val="3"/>
                <c:pt idx="0">
                  <c:v>54.2</c:v>
                </c:pt>
                <c:pt idx="1">
                  <c:v>22.2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A5-4974-9FE5-6DC4978A8064}"/>
            </c:ext>
          </c:extLst>
        </c:ser>
        <c:ser>
          <c:idx val="2"/>
          <c:order val="2"/>
          <c:tx>
            <c:strRef>
              <c:f>Purity!$L$2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Purity!$L$3:$L$5</c:f>
              <c:numCache>
                <c:formatCode>0.0</c:formatCode>
                <c:ptCount val="3"/>
                <c:pt idx="0">
                  <c:v>20.3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A5-4974-9FE5-6DC4978A8064}"/>
            </c:ext>
          </c:extLst>
        </c:ser>
        <c:ser>
          <c:idx val="3"/>
          <c:order val="3"/>
          <c:tx>
            <c:strRef>
              <c:f>Purity!$M$2</c:f>
              <c:strCache>
                <c:ptCount val="1"/>
                <c:pt idx="0">
                  <c:v>Leuk</c:v>
                </c:pt>
              </c:strCache>
            </c:strRef>
          </c:tx>
          <c:spPr>
            <a:solidFill>
              <a:schemeClr val="accent1"/>
            </a:solidFill>
            <a:ln w="25400">
              <a:solidFill>
                <a:schemeClr val="accent1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Purity!$M$3:$M$5</c:f>
              <c:numCache>
                <c:formatCode>0.0</c:formatCode>
                <c:ptCount val="3"/>
                <c:pt idx="0">
                  <c:v>0.4</c:v>
                </c:pt>
                <c:pt idx="1">
                  <c:v>0</c:v>
                </c:pt>
                <c:pt idx="2">
                  <c:v>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EA5-4974-9FE5-6DC4978A8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E32C6 L4i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346936473189333"/>
          <c:y val="0.10169984236943093"/>
          <c:w val="0.76423497317165523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Purity!$P$2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Purity!$P$3:$P$5</c:f>
              <c:numCache>
                <c:formatCode>0.0</c:formatCode>
                <c:ptCount val="3"/>
                <c:pt idx="0">
                  <c:v>8.25</c:v>
                </c:pt>
                <c:pt idx="1">
                  <c:v>8.8699999999999992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36-49F4-97C4-E35747A3C17D}"/>
            </c:ext>
          </c:extLst>
        </c:ser>
        <c:ser>
          <c:idx val="1"/>
          <c:order val="1"/>
          <c:tx>
            <c:strRef>
              <c:f>Purity!$Q$2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 w="25400">
              <a:solidFill>
                <a:schemeClr val="accent4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Purity!$Q$3:$Q$5</c:f>
              <c:numCache>
                <c:formatCode>General</c:formatCode>
                <c:ptCount val="3"/>
                <c:pt idx="0">
                  <c:v>41.1</c:v>
                </c:pt>
                <c:pt idx="1">
                  <c:v>0.81</c:v>
                </c:pt>
                <c:pt idx="2">
                  <c:v>4.71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36-49F4-97C4-E35747A3C17D}"/>
            </c:ext>
          </c:extLst>
        </c:ser>
        <c:ser>
          <c:idx val="2"/>
          <c:order val="2"/>
          <c:tx>
            <c:strRef>
              <c:f>Purity!$R$2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 w="25400">
              <a:solidFill>
                <a:schemeClr val="accent6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Purity!$R$3:$R$5</c:f>
              <c:numCache>
                <c:formatCode>0.0</c:formatCode>
                <c:ptCount val="3"/>
                <c:pt idx="0">
                  <c:v>49.6</c:v>
                </c:pt>
                <c:pt idx="1">
                  <c:v>5.24</c:v>
                </c:pt>
                <c:pt idx="2">
                  <c:v>4.71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36-49F4-97C4-E35747A3C17D}"/>
            </c:ext>
          </c:extLst>
        </c:ser>
        <c:ser>
          <c:idx val="3"/>
          <c:order val="3"/>
          <c:tx>
            <c:strRef>
              <c:f>Purity!$S$2</c:f>
              <c:strCache>
                <c:ptCount val="1"/>
                <c:pt idx="0">
                  <c:v>Leukocyte</c:v>
                </c:pt>
              </c:strCache>
            </c:strRef>
          </c:tx>
          <c:spPr>
            <a:solidFill>
              <a:schemeClr val="accent1"/>
            </a:solidFill>
            <a:ln w="25400">
              <a:solidFill>
                <a:schemeClr val="accent1"/>
              </a:solidFill>
            </a:ln>
            <a:effectLst/>
          </c:spPr>
          <c:cat>
            <c:strRef>
              <c:f>Purity!$I$3:$I$5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Purity!$S$3:$S$5</c:f>
              <c:numCache>
                <c:formatCode>0.0</c:formatCode>
                <c:ptCount val="3"/>
                <c:pt idx="0">
                  <c:v>1.08</c:v>
                </c:pt>
                <c:pt idx="1">
                  <c:v>85.1</c:v>
                </c:pt>
                <c:pt idx="2">
                  <c:v>81.900000000000006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C36-49F4-97C4-E35747A3C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E5C3 E8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346936473189333"/>
          <c:y val="0.10169984236943093"/>
          <c:w val="0.76423497317165523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Purity!$J$2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Purity!$J$22:$J$24</c:f>
              <c:numCache>
                <c:formatCode>0.0</c:formatCode>
                <c:ptCount val="3"/>
                <c:pt idx="0">
                  <c:v>54.599999999999994</c:v>
                </c:pt>
                <c:pt idx="1">
                  <c:v>64.180000000000007</c:v>
                </c:pt>
                <c:pt idx="2">
                  <c:v>14.759999999999991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B-4303-BAD2-71D43BEE59FF}"/>
            </c:ext>
          </c:extLst>
        </c:ser>
        <c:ser>
          <c:idx val="1"/>
          <c:order val="1"/>
          <c:tx>
            <c:strRef>
              <c:f>Purity!$K$2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accent4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Purity!$K$22:$K$24</c:f>
              <c:numCache>
                <c:formatCode>0.0</c:formatCode>
                <c:ptCount val="3"/>
                <c:pt idx="0">
                  <c:v>18.600000000000001</c:v>
                </c:pt>
                <c:pt idx="1">
                  <c:v>11.6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5B-4303-BAD2-71D43BEE59FF}"/>
            </c:ext>
          </c:extLst>
        </c:ser>
        <c:ser>
          <c:idx val="2"/>
          <c:order val="2"/>
          <c:tx>
            <c:strRef>
              <c:f>Purity!$L$2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Purity!$L$22:$L$24</c:f>
              <c:numCache>
                <c:formatCode>0.0</c:formatCode>
                <c:ptCount val="3"/>
                <c:pt idx="0">
                  <c:v>12.2</c:v>
                </c:pt>
                <c:pt idx="1">
                  <c:v>7.92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5B-4303-BAD2-71D43BEE59FF}"/>
            </c:ext>
          </c:extLst>
        </c:ser>
        <c:ser>
          <c:idx val="3"/>
          <c:order val="3"/>
          <c:tx>
            <c:strRef>
              <c:f>Purity!$M$2</c:f>
              <c:strCache>
                <c:ptCount val="1"/>
                <c:pt idx="0">
                  <c:v>Leuk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Purity!$M$22:$M$24</c:f>
              <c:numCache>
                <c:formatCode>0.0</c:formatCode>
                <c:ptCount val="3"/>
                <c:pt idx="0">
                  <c:v>14.6</c:v>
                </c:pt>
                <c:pt idx="1">
                  <c:v>16.3</c:v>
                </c:pt>
                <c:pt idx="2">
                  <c:v>84.9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5B-4303-BAD2-71D43BEE59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E5C3 L4i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346936473189333"/>
          <c:y val="0.10169984236943093"/>
          <c:w val="0.76423497317165523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Purity!$P$2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Purity!$P$22:$P$24</c:f>
              <c:numCache>
                <c:formatCode>0.0</c:formatCode>
                <c:ptCount val="3"/>
                <c:pt idx="0">
                  <c:v>48.5</c:v>
                </c:pt>
                <c:pt idx="1">
                  <c:v>33.9</c:v>
                </c:pt>
                <c:pt idx="2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4-4202-9274-7BEABCD0D128}"/>
            </c:ext>
          </c:extLst>
        </c:ser>
        <c:ser>
          <c:idx val="1"/>
          <c:order val="1"/>
          <c:tx>
            <c:strRef>
              <c:f>Purity!$Q$2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accent4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Purity!$Q$22:$Q$24</c:f>
              <c:numCache>
                <c:formatCode>0.0</c:formatCode>
                <c:ptCount val="3"/>
                <c:pt idx="0">
                  <c:v>18.3</c:v>
                </c:pt>
                <c:pt idx="1">
                  <c:v>2.2000000000000002</c:v>
                </c:pt>
                <c:pt idx="2">
                  <c:v>4.5999999999999999E-2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4-4202-9274-7BEABCD0D128}"/>
            </c:ext>
          </c:extLst>
        </c:ser>
        <c:ser>
          <c:idx val="2"/>
          <c:order val="2"/>
          <c:tx>
            <c:strRef>
              <c:f>Purity!$R$2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Purity!$R$22:$R$24</c:f>
              <c:numCache>
                <c:formatCode>0.0</c:formatCode>
                <c:ptCount val="3"/>
                <c:pt idx="0">
                  <c:v>18.899999999999999</c:v>
                </c:pt>
                <c:pt idx="1">
                  <c:v>9.44</c:v>
                </c:pt>
                <c:pt idx="2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74-4202-9274-7BEABCD0D128}"/>
            </c:ext>
          </c:extLst>
        </c:ser>
        <c:ser>
          <c:idx val="3"/>
          <c:order val="3"/>
          <c:tx>
            <c:strRef>
              <c:f>Purity!$S$2</c:f>
              <c:strCache>
                <c:ptCount val="1"/>
                <c:pt idx="0">
                  <c:v>Leukocyte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cat>
            <c:strRef>
              <c:f>Purity!$I$22:$I$24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Purity!$S$22:$S$24</c:f>
              <c:numCache>
                <c:formatCode>0.0</c:formatCode>
                <c:ptCount val="3"/>
                <c:pt idx="0">
                  <c:v>14.3</c:v>
                </c:pt>
                <c:pt idx="1">
                  <c:v>54.5</c:v>
                </c:pt>
                <c:pt idx="2">
                  <c:v>98.8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74-4202-9274-7BEABCD0D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E32C4 E8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28154428206568394"/>
          <c:y val="0.10169984236943093"/>
          <c:w val="0.61705577516134846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Purity!$J$2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Purity!$J$41:$J$43</c:f>
              <c:numCache>
                <c:formatCode>0.0</c:formatCode>
                <c:ptCount val="3"/>
                <c:pt idx="0">
                  <c:v>12.791899152717503</c:v>
                </c:pt>
                <c:pt idx="1">
                  <c:v>5.447061914353271</c:v>
                </c:pt>
                <c:pt idx="2">
                  <c:v>3.0612244897959182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84-4630-93E3-3886A8D2E459}"/>
            </c:ext>
          </c:extLst>
        </c:ser>
        <c:ser>
          <c:idx val="1"/>
          <c:order val="1"/>
          <c:tx>
            <c:strRef>
              <c:f>Purity!$K$2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accent4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Purity!$K$41:$K$43</c:f>
              <c:numCache>
                <c:formatCode>0.0</c:formatCode>
                <c:ptCount val="3"/>
                <c:pt idx="0">
                  <c:v>26.513742508782805</c:v>
                </c:pt>
                <c:pt idx="1">
                  <c:v>2.9512216481303093</c:v>
                </c:pt>
                <c:pt idx="2">
                  <c:v>2.0408163265306123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84-4630-93E3-3886A8D2E459}"/>
            </c:ext>
          </c:extLst>
        </c:ser>
        <c:ser>
          <c:idx val="2"/>
          <c:order val="2"/>
          <c:tx>
            <c:strRef>
              <c:f>Purity!$L$2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Purity!$L$41:$L$43</c:f>
              <c:numCache>
                <c:formatCode>0.0</c:formatCode>
                <c:ptCount val="3"/>
                <c:pt idx="0">
                  <c:v>54.102087208100848</c:v>
                </c:pt>
                <c:pt idx="1">
                  <c:v>39.8633855854278</c:v>
                </c:pt>
                <c:pt idx="2">
                  <c:v>3.0612244897959182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84-4630-93E3-3886A8D2E459}"/>
            </c:ext>
          </c:extLst>
        </c:ser>
        <c:ser>
          <c:idx val="3"/>
          <c:order val="3"/>
          <c:tx>
            <c:strRef>
              <c:f>Purity!$M$2</c:f>
              <c:strCache>
                <c:ptCount val="1"/>
                <c:pt idx="0">
                  <c:v>Leuk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Purity!$M$41:$M$43</c:f>
              <c:numCache>
                <c:formatCode>0.0</c:formatCode>
                <c:ptCount val="3"/>
                <c:pt idx="0">
                  <c:v>6.592271130398843</c:v>
                </c:pt>
                <c:pt idx="1">
                  <c:v>51.738330852088623</c:v>
                </c:pt>
                <c:pt idx="2">
                  <c:v>91.83673469387756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84-4630-93E3-3886A8D2E4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Days</a:t>
                </a:r>
              </a:p>
            </c:rich>
          </c:tx>
          <c:layout>
            <c:manualLayout>
              <c:xMode val="edge"/>
              <c:yMode val="edge"/>
              <c:x val="1.2728722362009875E-2"/>
              <c:y val="0.78185282309861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100"/>
              <a:t>E32C4 L4i</a:t>
            </a:r>
          </a:p>
        </c:rich>
      </c:tx>
      <c:layout>
        <c:manualLayout>
          <c:xMode val="edge"/>
          <c:yMode val="edge"/>
          <c:x val="0.42764767464738285"/>
          <c:y val="4.3171281436477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27969521306471956"/>
          <c:y val="0.10169984236943093"/>
          <c:w val="0.61890484416231284"/>
          <c:h val="0.64867794098355713"/>
        </c:manualLayout>
      </c:layout>
      <c:areaChart>
        <c:grouping val="percentStacked"/>
        <c:varyColors val="0"/>
        <c:ser>
          <c:idx val="0"/>
          <c:order val="0"/>
          <c:tx>
            <c:strRef>
              <c:f>Purity!$P$2</c:f>
              <c:strCache>
                <c:ptCount val="1"/>
                <c:pt idx="0">
                  <c:v>Non-hematovascular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Purity!$P$41:$P$43</c:f>
              <c:numCache>
                <c:formatCode>0.0</c:formatCode>
                <c:ptCount val="3"/>
                <c:pt idx="0">
                  <c:v>31.525423728813561</c:v>
                </c:pt>
                <c:pt idx="1">
                  <c:v>10.267629998982395</c:v>
                </c:pt>
                <c:pt idx="2">
                  <c:v>3.5714285714285712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F-4BCB-847C-008D46AB690E}"/>
            </c:ext>
          </c:extLst>
        </c:ser>
        <c:ser>
          <c:idx val="1"/>
          <c:order val="1"/>
          <c:tx>
            <c:strRef>
              <c:f>Purity!$Q$2</c:f>
              <c:strCache>
                <c:ptCount val="1"/>
                <c:pt idx="0">
                  <c:v>Endothelia</c:v>
                </c:pt>
              </c:strCache>
            </c:strRef>
          </c:tx>
          <c:spPr>
            <a:solidFill>
              <a:schemeClr val="accent4"/>
            </a:solidFill>
            <a:ln w="25400">
              <a:solidFill>
                <a:schemeClr val="accent4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Purity!$Q$41:$Q$43</c:f>
              <c:numCache>
                <c:formatCode>0.0</c:formatCode>
                <c:ptCount val="3"/>
                <c:pt idx="0">
                  <c:v>1.0169491525423728</c:v>
                </c:pt>
                <c:pt idx="1">
                  <c:v>7.1232319120789658E-2</c:v>
                </c:pt>
                <c:pt idx="2">
                  <c:v>14.285714285714285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DF-4BCB-847C-008D46AB690E}"/>
            </c:ext>
          </c:extLst>
        </c:ser>
        <c:ser>
          <c:idx val="2"/>
          <c:order val="2"/>
          <c:tx>
            <c:strRef>
              <c:f>Purity!$R$2</c:f>
              <c:strCache>
                <c:ptCount val="1"/>
                <c:pt idx="0">
                  <c:v>HSPC</c:v>
                </c:pt>
              </c:strCache>
            </c:strRef>
          </c:tx>
          <c:spPr>
            <a:solidFill>
              <a:schemeClr val="accent6"/>
            </a:solidFill>
            <a:ln w="25400">
              <a:solidFill>
                <a:schemeClr val="accent6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Purity!$R$41:$R$43</c:f>
              <c:numCache>
                <c:formatCode>0.0</c:formatCode>
                <c:ptCount val="3"/>
                <c:pt idx="0">
                  <c:v>26.779661016949152</c:v>
                </c:pt>
                <c:pt idx="1">
                  <c:v>1.8622163427292153</c:v>
                </c:pt>
                <c:pt idx="2">
                  <c:v>21.428571428571427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DF-4BCB-847C-008D46AB690E}"/>
            </c:ext>
          </c:extLst>
        </c:ser>
        <c:ser>
          <c:idx val="3"/>
          <c:order val="3"/>
          <c:tx>
            <c:strRef>
              <c:f>Purity!$S$2</c:f>
              <c:strCache>
                <c:ptCount val="1"/>
                <c:pt idx="0">
                  <c:v>Leukocyte</c:v>
                </c:pt>
              </c:strCache>
            </c:strRef>
          </c:tx>
          <c:spPr>
            <a:solidFill>
              <a:schemeClr val="accent1"/>
            </a:solidFill>
            <a:ln w="25400">
              <a:solidFill>
                <a:schemeClr val="accent1"/>
              </a:solidFill>
            </a:ln>
            <a:effectLst/>
          </c:spPr>
          <c:cat>
            <c:strRef>
              <c:f>Purity!$I$41:$I$43</c:f>
              <c:strCache>
                <c:ptCount val="3"/>
                <c:pt idx="0">
                  <c:v>11-12</c:v>
                </c:pt>
                <c:pt idx="1">
                  <c:v>16-18</c:v>
                </c:pt>
                <c:pt idx="2">
                  <c:v>20-21</c:v>
                </c:pt>
              </c:strCache>
            </c:strRef>
          </c:cat>
          <c:val>
            <c:numRef>
              <c:f>Purity!$S$41:$S$43</c:f>
              <c:numCache>
                <c:formatCode>0.0</c:formatCode>
                <c:ptCount val="3"/>
                <c:pt idx="0">
                  <c:v>41.525423728813557</c:v>
                </c:pt>
                <c:pt idx="1">
                  <c:v>87.798921339167606</c:v>
                </c:pt>
                <c:pt idx="2">
                  <c:v>60.714285714285708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DF-4BCB-847C-008D46AB69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546224"/>
        <c:axId val="666546552"/>
      </c:areaChart>
      <c:catAx>
        <c:axId val="666546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Days</a:t>
                </a:r>
              </a:p>
            </c:rich>
          </c:tx>
          <c:layout>
            <c:manualLayout>
              <c:xMode val="edge"/>
              <c:yMode val="edge"/>
              <c:x val="6.8026829979585864E-3"/>
              <c:y val="0.78185282309861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552"/>
        <c:crosses val="autoZero"/>
        <c:auto val="1"/>
        <c:lblAlgn val="ctr"/>
        <c:lblOffset val="100"/>
        <c:noMultiLvlLbl val="0"/>
      </c:catAx>
      <c:valAx>
        <c:axId val="666546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65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de-D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'[HD1 ^0 HD3 ^0 HD9.xlsx]Tabelle1'!$R$7:$R$9</cx:f>
        <cx:lvl ptCount="3" formatCode="Standard">
          <cx:pt idx="0">24.5</cx:pt>
          <cx:pt idx="1">3068.5</cx:pt>
          <cx:pt idx="2">631</cx:pt>
        </cx:lvl>
      </cx:numDim>
    </cx:data>
    <cx:data id="1">
      <cx:numDim type="val">
        <cx:f>'[HD1 ^0 HD3 ^0 HD9.xlsx]Tabelle1'!$S$7:$S$9</cx:f>
        <cx:lvl ptCount="3" formatCode="Standard">
          <cx:pt idx="0">1236.5</cx:pt>
          <cx:pt idx="1">6038.7428571428572</cx:pt>
          <cx:pt idx="2">1211.5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9BCB6B04-BF7E-4D57-8C0D-E028306316BE}">
          <cx:tx>
            <cx:txData>
              <cx:f>'[HD1 ^0 HD3 ^0 HD9.xlsx]Tabelle1'!$R$6</cx:f>
              <cx:v>E8</cx:v>
            </cx:txData>
          </cx:tx>
          <cx:spPr>
            <a:solidFill>
              <a:schemeClr val="accent5"/>
            </a:solidFill>
            <a:ln>
              <a:solidFill>
                <a:sysClr val="windowText" lastClr="000000"/>
              </a:solidFill>
            </a:ln>
          </cx:spPr>
          <cx:dataId val="0"/>
          <cx:layoutPr>
            <cx:visibility nonoutliers="0"/>
            <cx:statistics quartileMethod="exclusive"/>
          </cx:layoutPr>
        </cx:series>
        <cx:series layoutId="boxWhisker" uniqueId="{4BB77E8A-056B-4DCD-AC4A-723B63A4B382}">
          <cx:tx>
            <cx:txData>
              <cx:f>'[HD1 ^0 HD3 ^0 HD9.xlsx]Tabelle1'!$S$6</cx:f>
              <cx:v>L4i</cx:v>
            </cx:txData>
          </cx:tx>
          <cx:spPr>
            <a:solidFill>
              <a:srgbClr val="FF0000"/>
            </a:solidFill>
            <a:ln>
              <a:solidFill>
                <a:sysClr val="windowText" lastClr="000000"/>
              </a:solidFill>
            </a:ln>
          </cx:spPr>
          <cx:dataId val="1"/>
          <cx:layoutPr>
            <cx:visibility nonoutliers="0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HSPC /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culture</a:t>
                </a: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volume</a:t>
                </a:r>
                <a:endParaRPr lang="de-DE" sz="900" b="0" i="0" u="none" strike="noStrike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endParaRPr>
              </a:p>
            </cx:rich>
          </cx:tx>
        </cx:title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'[HD1 ^0 HD3 ^0 HD9.xlsx]Tabelle1'!$N$7:$N$9</cx:f>
        <cx:lvl ptCount="3" formatCode="Standard">
          <cx:pt idx="0">0.0048999999999999998</cx:pt>
          <cx:pt idx="1">0.61370000000000002</cx:pt>
          <cx:pt idx="2">0.42066666666666669</cx:pt>
        </cx:lvl>
      </cx:numDim>
    </cx:data>
    <cx:data id="1">
      <cx:numDim type="val">
        <cx:f>'[HD1 ^0 HD3 ^0 HD9.xlsx]Tabelle1'!$O$7:$O$9</cx:f>
        <cx:lvl ptCount="3" formatCode="Standard">
          <cx:pt idx="0">0.24729999999999999</cx:pt>
          <cx:pt idx="1">1.2077485714285714</cx:pt>
          <cx:pt idx="2">0.80766666666666664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8512C4B8-847E-4C3A-BAB7-A2DCEDE95508}">
          <cx:tx>
            <cx:txData>
              <cx:f>'[HD1 ^0 HD3 ^0 HD9.xlsx]Tabelle1'!$N$6</cx:f>
              <cx:v>E8</cx:v>
            </cx:txData>
          </cx:tx>
          <cx:spPr>
            <a:solidFill>
              <a:schemeClr val="accent5"/>
            </a:solidFill>
            <a:ln>
              <a:solidFill>
                <a:sysClr val="windowText" lastClr="000000"/>
              </a:solidFill>
            </a:ln>
          </cx:spPr>
          <cx:dataId val="0"/>
          <cx:layoutPr>
            <cx:visibility nonoutliers="0"/>
            <cx:statistics quartileMethod="exclusive"/>
          </cx:layoutPr>
        </cx:series>
        <cx:series layoutId="boxWhisker" uniqueId="{A93E4FD1-D5EA-4238-A67C-2A1032BC1985}">
          <cx:tx>
            <cx:txData>
              <cx:f>'[HD1 ^0 HD3 ^0 HD9.xlsx]Tabelle1'!$O$6</cx:f>
              <cx:v>L4i</cx:v>
            </cx:txData>
          </cx:tx>
          <cx:spPr>
            <a:solidFill>
              <a:srgbClr val="FF0000"/>
            </a:solidFill>
            <a:ln>
              <a:solidFill>
                <a:sysClr val="windowText" lastClr="000000"/>
              </a:solidFill>
            </a:ln>
          </cx:spPr>
          <cx:dataId val="1"/>
          <cx:layoutPr>
            <cx:visibility nonoutliers="0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HSPC /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iPSC</a:t>
                </a:r>
                <a:endParaRPr lang="de-DE" sz="900" b="0" i="0" u="none" strike="noStrike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endParaRPr>
              </a:p>
            </cx:rich>
          </cx:tx>
        </cx:title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d17_efficiency!$J$8:$J$10</cx:f>
        <cx:lvl ptCount="3" formatCode="0,0">
          <cx:pt idx="0">0</cx:pt>
          <cx:pt idx="1">0.69195828571428564</cx:pt>
          <cx:pt idx="2">0.12083077682569905</cx:pt>
        </cx:lvl>
      </cx:numDim>
    </cx:data>
    <cx:data id="1">
      <cx:numDim type="val">
        <cx:f>d17_efficiency!$K$8:$K$10</cx:f>
        <cx:lvl ptCount="3" formatCode="0,0">
          <cx:pt idx="0">1.6488125</cx:pt>
          <cx:pt idx="1">1.4124367928571426</cx:pt>
          <cx:pt idx="2">0.10800004998625382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900"/>
          </a:pPr>
          <a:endParaRPr lang="en-US" sz="9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64CB3A49-67DB-4726-9FA5-E04679EDBEC4}">
          <cx:tx>
            <cx:txData>
              <cx:f>d17_efficiency!$J$7</cx:f>
              <cx:v>E8</cx:v>
            </cx:txData>
          </cx:tx>
          <cx:spPr>
            <a:solidFill>
              <a:schemeClr val="accent1"/>
            </a:solidFill>
            <a:ln>
              <a:solidFill>
                <a:sysClr val="windowText" lastClr="000000"/>
              </a:solidFill>
            </a:ln>
          </cx:spPr>
          <cx:dataId val="0"/>
          <cx:layoutPr>
            <cx:visibility nonoutliers="0"/>
            <cx:statistics quartileMethod="exclusive"/>
          </cx:layoutPr>
        </cx:series>
        <cx:series layoutId="boxWhisker" uniqueId="{3FF7538A-20E5-4D8A-86CD-985BDFCA10FA}">
          <cx:tx>
            <cx:txData>
              <cx:f>d17_efficiency!$K$7</cx:f>
              <cx:v>L4i</cx:v>
            </cx:txData>
          </cx:tx>
          <cx:spPr>
            <a:solidFill>
              <a:srgbClr val="FF0000"/>
            </a:solidFill>
            <a:ln>
              <a:solidFill>
                <a:sysClr val="windowText" lastClr="000000"/>
              </a:solidFill>
            </a:ln>
          </cx:spPr>
          <cx:dataId val="1"/>
          <cx:layoutPr>
            <cx:visibility nonoutliers="0"/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de-DE" sz="900"/>
          </a:p>
        </cx:txPr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/>
                </a:pP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Leukocytes</a:t>
                </a: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 /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iPSC</a:t>
                </a:r>
                <a:endParaRPr lang="de-DE" sz="900" b="0" i="0" u="none" strike="noStrike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endParaRPr>
              </a:p>
            </cx:rich>
          </cx:tx>
        </cx:title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sz="900"/>
          </a:p>
        </cx:txPr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d17_efficiency!$F$8:$F$10</cx:f>
        <cx:lvl ptCount="3" formatCode="0,0">
          <cx:pt idx="0">0</cx:pt>
          <cx:pt idx="1">3459.7914285714282</cx:pt>
          <cx:pt idx="2">181.24616523854857</cx:pt>
        </cx:lvl>
      </cx:numDim>
    </cx:data>
    <cx:data id="1">
      <cx:numDim type="val">
        <cx:f>d17_efficiency!$G$8:$G$10</cx:f>
        <cx:lvl ptCount="3" formatCode="0,0">
          <cx:pt idx="0">16488.125</cx:pt>
          <cx:pt idx="1">14124.367928571426</cx:pt>
          <cx:pt idx="2">324.00014995876143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900"/>
          </a:pPr>
          <a:endParaRPr lang="en-US" sz="9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ADE6B047-A926-4467-A9CB-73DEA13F2D65}">
          <cx:tx>
            <cx:txData>
              <cx:f>d17_efficiency!$F$7</cx:f>
              <cx:v>E8</cx:v>
            </cx:txData>
          </cx:tx>
          <cx:spPr>
            <a:solidFill>
              <a:schemeClr val="accent1"/>
            </a:solidFill>
            <a:ln>
              <a:solidFill>
                <a:sysClr val="windowText" lastClr="000000"/>
              </a:solidFill>
            </a:ln>
          </cx:spPr>
          <cx:dataId val="0"/>
          <cx:layoutPr>
            <cx:visibility nonoutliers="0"/>
            <cx:statistics quartileMethod="exclusive"/>
          </cx:layoutPr>
        </cx:series>
        <cx:series layoutId="boxWhisker" uniqueId="{5EC8264F-417B-4739-83C4-965AC21DDB12}">
          <cx:tx>
            <cx:txData>
              <cx:f>d17_efficiency!$G$7</cx:f>
              <cx:v>L4i</cx:v>
            </cx:txData>
          </cx:tx>
          <cx:spPr>
            <a:solidFill>
              <a:srgbClr val="FF0000"/>
            </a:solidFill>
            <a:ln>
              <a:solidFill>
                <a:sysClr val="windowText" lastClr="000000"/>
              </a:solidFill>
            </a:ln>
          </cx:spPr>
          <cx:dataId val="1"/>
          <cx:layoutPr>
            <cx:visibility nonoutliers="0"/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de-DE" sz="900"/>
          </a:p>
        </cx:txPr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/>
                </a:pP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Leukocytes</a:t>
                </a: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 /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culture</a:t>
                </a:r>
                <a:r>
                  <a:rPr lang="de-DE" sz="900" b="0" i="0" u="none" strike="noStrike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 </a:t>
                </a:r>
                <a:r>
                  <a:rPr lang="de-DE" sz="900" b="0" i="0" u="none" strike="noStrike" baseline="0" dirty="0" err="1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libri" panose="020F0502020204030204"/>
                  </a:rPr>
                  <a:t>volume</a:t>
                </a:r>
                <a:endParaRPr lang="de-DE" sz="900" b="0" i="0" u="none" strike="noStrike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endParaRPr>
              </a:p>
            </cx:rich>
          </cx:tx>
        </cx:title>
        <cx:tickLabels/>
        <cx:numFmt formatCode="0" sourceLinked="0"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sz="900"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1B7A7-08DC-49E9-A11F-3AF3FE0F795F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190FF-CA2B-4B2E-84CB-7484EB753B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35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89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Row</a:t>
            </a:r>
            <a:r>
              <a:rPr lang="de-DE" baseline="0" dirty="0"/>
              <a:t> 1: </a:t>
            </a:r>
            <a:r>
              <a:rPr lang="de-DE" dirty="0"/>
              <a:t>TNF </a:t>
            </a:r>
            <a:r>
              <a:rPr lang="de-DE" dirty="0" err="1"/>
              <a:t>gated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unstimulated</a:t>
            </a:r>
            <a:r>
              <a:rPr lang="de-DE" baseline="0" dirty="0"/>
              <a:t> </a:t>
            </a:r>
            <a:r>
              <a:rPr lang="de-DE" baseline="0" dirty="0" err="1"/>
              <a:t>stained</a:t>
            </a:r>
            <a:r>
              <a:rPr lang="de-DE" baseline="0" dirty="0"/>
              <a:t> </a:t>
            </a:r>
            <a:r>
              <a:rPr lang="de-DE" baseline="0" dirty="0" err="1"/>
              <a:t>controls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against</a:t>
            </a:r>
            <a:r>
              <a:rPr lang="de-DE" baseline="0" dirty="0"/>
              <a:t> </a:t>
            </a:r>
            <a:r>
              <a:rPr lang="de-DE" baseline="0" dirty="0" err="1"/>
              <a:t>fluorochrome</a:t>
            </a:r>
            <a:r>
              <a:rPr lang="de-DE" baseline="0" dirty="0"/>
              <a:t> </a:t>
            </a:r>
            <a:r>
              <a:rPr lang="de-DE" baseline="0" dirty="0" err="1"/>
              <a:t>controls</a:t>
            </a:r>
            <a:r>
              <a:rPr lang="de-DE" baseline="0" dirty="0"/>
              <a:t>. Also </a:t>
            </a:r>
            <a:r>
              <a:rPr lang="de-DE" baseline="0" dirty="0" err="1"/>
              <a:t>stained</a:t>
            </a:r>
            <a:r>
              <a:rPr lang="de-DE" baseline="0" dirty="0"/>
              <a:t> IL12-FITC, but 4h </a:t>
            </a:r>
            <a:r>
              <a:rPr lang="de-DE" baseline="0" dirty="0" err="1"/>
              <a:t>stimulation</a:t>
            </a:r>
            <a:r>
              <a:rPr lang="de-DE" baseline="0" dirty="0"/>
              <a:t> was </a:t>
            </a:r>
            <a:r>
              <a:rPr lang="de-DE" baseline="0" dirty="0" err="1"/>
              <a:t>apparently</a:t>
            </a:r>
            <a:r>
              <a:rPr lang="de-DE" baseline="0" dirty="0"/>
              <a:t> not </a:t>
            </a:r>
            <a:r>
              <a:rPr lang="de-DE" baseline="0" dirty="0" err="1"/>
              <a:t>long</a:t>
            </a:r>
            <a:r>
              <a:rPr lang="de-DE" baseline="0" dirty="0"/>
              <a:t> </a:t>
            </a:r>
            <a:r>
              <a:rPr lang="de-DE" baseline="0" dirty="0" err="1"/>
              <a:t>enough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elicit</a:t>
            </a:r>
            <a:r>
              <a:rPr lang="de-DE" baseline="0" dirty="0"/>
              <a:t> IL12. </a:t>
            </a:r>
          </a:p>
          <a:p>
            <a:r>
              <a:rPr lang="de-DE" baseline="0" dirty="0" err="1"/>
              <a:t>Row</a:t>
            </a:r>
            <a:r>
              <a:rPr lang="de-DE" baseline="0" dirty="0"/>
              <a:t> 2, 3: </a:t>
            </a:r>
            <a:r>
              <a:rPr lang="de-DE" baseline="0" dirty="0" err="1"/>
              <a:t>Histograms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lower</a:t>
            </a:r>
            <a:r>
              <a:rPr lang="de-DE" baseline="0" dirty="0"/>
              <a:t> </a:t>
            </a:r>
            <a:r>
              <a:rPr lang="de-DE" baseline="0" dirty="0" err="1"/>
              <a:t>chamber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mod. Boyden </a:t>
            </a:r>
            <a:r>
              <a:rPr lang="de-DE" baseline="0" dirty="0" err="1"/>
              <a:t>chamber</a:t>
            </a:r>
            <a:r>
              <a:rPr lang="de-DE" baseline="0" dirty="0"/>
              <a:t> </a:t>
            </a:r>
            <a:r>
              <a:rPr lang="de-DE" baseline="0" dirty="0" err="1"/>
              <a:t>setup</a:t>
            </a:r>
            <a:r>
              <a:rPr lang="de-DE" baseline="0" dirty="0"/>
              <a:t>. </a:t>
            </a:r>
            <a:r>
              <a:rPr lang="de-DE" baseline="0" dirty="0" err="1"/>
              <a:t>Spontaneous</a:t>
            </a:r>
            <a:r>
              <a:rPr lang="de-DE" baseline="0" dirty="0"/>
              <a:t> </a:t>
            </a:r>
            <a:r>
              <a:rPr lang="de-DE" baseline="0" dirty="0" err="1"/>
              <a:t>migration</a:t>
            </a:r>
            <a:r>
              <a:rPr lang="de-DE" baseline="0" dirty="0"/>
              <a:t> (</a:t>
            </a:r>
            <a:r>
              <a:rPr lang="de-DE" baseline="0" dirty="0" err="1"/>
              <a:t>red</a:t>
            </a:r>
            <a:r>
              <a:rPr lang="de-DE" baseline="0" dirty="0"/>
              <a:t>) vs. </a:t>
            </a:r>
            <a:r>
              <a:rPr lang="de-DE" baseline="0" dirty="0" err="1"/>
              <a:t>Directed</a:t>
            </a:r>
            <a:r>
              <a:rPr lang="de-DE" baseline="0" dirty="0"/>
              <a:t> </a:t>
            </a:r>
            <a:r>
              <a:rPr lang="de-DE" baseline="0" dirty="0" err="1"/>
              <a:t>chemotaxis</a:t>
            </a:r>
            <a:r>
              <a:rPr lang="de-DE" baseline="0" dirty="0"/>
              <a:t> (</a:t>
            </a:r>
            <a:r>
              <a:rPr lang="de-DE" baseline="0" dirty="0" err="1"/>
              <a:t>blue</a:t>
            </a:r>
            <a:r>
              <a:rPr lang="de-DE" baseline="0" dirty="0"/>
              <a:t>). </a:t>
            </a:r>
            <a:r>
              <a:rPr lang="de-DE" baseline="0" dirty="0" err="1"/>
              <a:t>Cell</a:t>
            </a:r>
            <a:r>
              <a:rPr lang="de-DE" baseline="0" dirty="0"/>
              <a:t> </a:t>
            </a:r>
            <a:r>
              <a:rPr lang="de-DE" baseline="0" dirty="0" err="1"/>
              <a:t>size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acquisition</a:t>
            </a:r>
            <a:r>
              <a:rPr lang="de-DE" baseline="0" dirty="0"/>
              <a:t> time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. </a:t>
            </a:r>
            <a:r>
              <a:rPr lang="de-DE" baseline="0" dirty="0" err="1"/>
              <a:t>Mind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scale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7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In </a:t>
            </a:r>
            <a:r>
              <a:rPr lang="de-DE" dirty="0" err="1"/>
              <a:t>Stemline</a:t>
            </a:r>
            <a:r>
              <a:rPr lang="de-DE" dirty="0"/>
              <a:t> 2 + 1:1000 ITS-X.</a:t>
            </a:r>
            <a:r>
              <a:rPr lang="de-DE" baseline="0" dirty="0"/>
              <a:t> Protocol: 3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mesoderm</a:t>
            </a:r>
            <a:r>
              <a:rPr lang="de-DE" baseline="0" dirty="0"/>
              <a:t>, 7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vascular</a:t>
            </a:r>
            <a:r>
              <a:rPr lang="de-DE" baseline="0" dirty="0"/>
              <a:t>, 6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hematopoietic</a:t>
            </a:r>
            <a:r>
              <a:rPr lang="de-DE" baseline="0" dirty="0"/>
              <a:t>, Terminal </a:t>
            </a:r>
            <a:r>
              <a:rPr lang="de-DE" baseline="0" dirty="0" err="1"/>
              <a:t>maturation</a:t>
            </a:r>
            <a:r>
              <a:rPr lang="de-DE" baseline="0" dirty="0"/>
              <a:t> in M-CSF 50ng/ml + IL3 25 </a:t>
            </a:r>
            <a:r>
              <a:rPr lang="de-DE" baseline="0" dirty="0" err="1"/>
              <a:t>ng</a:t>
            </a:r>
            <a:r>
              <a:rPr lang="de-DE" baseline="0" dirty="0"/>
              <a:t>/ml. 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434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</a:t>
            </a:r>
            <a:r>
              <a:rPr lang="de-DE" dirty="0" err="1"/>
              <a:t>Stemline</a:t>
            </a:r>
            <a:r>
              <a:rPr lang="de-DE" dirty="0"/>
              <a:t> 2 + 1:1000 ITS-X.</a:t>
            </a:r>
            <a:r>
              <a:rPr lang="de-DE" baseline="0" dirty="0"/>
              <a:t> Protocol: 3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mesoderm</a:t>
            </a:r>
            <a:r>
              <a:rPr lang="de-DE" baseline="0" dirty="0"/>
              <a:t>, 7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vascular</a:t>
            </a:r>
            <a:r>
              <a:rPr lang="de-DE" baseline="0" dirty="0"/>
              <a:t>, 6 </a:t>
            </a:r>
            <a:r>
              <a:rPr lang="de-DE" baseline="0" dirty="0" err="1"/>
              <a:t>days</a:t>
            </a:r>
            <a:r>
              <a:rPr lang="de-DE" baseline="0" dirty="0"/>
              <a:t> </a:t>
            </a:r>
            <a:r>
              <a:rPr lang="de-DE" baseline="0" dirty="0" err="1"/>
              <a:t>hematopoietic</a:t>
            </a:r>
            <a:r>
              <a:rPr lang="de-DE" baseline="0" dirty="0"/>
              <a:t>, Terminal </a:t>
            </a:r>
            <a:r>
              <a:rPr lang="de-DE" baseline="0" dirty="0" err="1"/>
              <a:t>maturation</a:t>
            </a:r>
            <a:r>
              <a:rPr lang="de-DE" baseline="0" dirty="0"/>
              <a:t> in M-CSF 50ng/ml + IL3 25 </a:t>
            </a:r>
            <a:r>
              <a:rPr lang="de-DE" baseline="0" dirty="0" err="1"/>
              <a:t>ng</a:t>
            </a:r>
            <a:r>
              <a:rPr lang="de-DE" baseline="0" dirty="0"/>
              <a:t>/ml.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432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A) </a:t>
            </a:r>
            <a:r>
              <a:rPr lang="de-DE" dirty="0" err="1"/>
              <a:t>Percent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viable </a:t>
            </a:r>
            <a:r>
              <a:rPr lang="de-DE" dirty="0" err="1"/>
              <a:t>singlets</a:t>
            </a:r>
            <a:r>
              <a:rPr lang="de-DE" dirty="0"/>
              <a:t> (</a:t>
            </a:r>
            <a:r>
              <a:rPr lang="de-DE" dirty="0" err="1"/>
              <a:t>by</a:t>
            </a:r>
            <a:r>
              <a:rPr lang="de-DE" dirty="0"/>
              <a:t> FSC/SSC and </a:t>
            </a:r>
            <a:r>
              <a:rPr lang="de-DE" dirty="0" err="1"/>
              <a:t>confirmed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7AAD in </a:t>
            </a:r>
            <a:r>
              <a:rPr lang="de-DE" dirty="0" err="1"/>
              <a:t>select</a:t>
            </a:r>
            <a:r>
              <a:rPr lang="de-DE" dirty="0"/>
              <a:t> </a:t>
            </a:r>
            <a:r>
              <a:rPr lang="de-DE" dirty="0" err="1"/>
              <a:t>tubes</a:t>
            </a:r>
            <a:r>
              <a:rPr lang="de-DE" dirty="0"/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Flow </a:t>
            </a:r>
            <a:r>
              <a:rPr lang="de-DE" dirty="0" err="1"/>
              <a:t>cytometry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CD34+ (</a:t>
            </a:r>
            <a:r>
              <a:rPr lang="de-DE" dirty="0" err="1"/>
              <a:t>yellow</a:t>
            </a:r>
            <a:r>
              <a:rPr lang="de-DE" dirty="0"/>
              <a:t>, </a:t>
            </a:r>
            <a:r>
              <a:rPr lang="de-DE" dirty="0" err="1"/>
              <a:t>green</a:t>
            </a:r>
            <a:r>
              <a:rPr lang="de-DE" dirty="0"/>
              <a:t>), CD45+ (</a:t>
            </a:r>
            <a:r>
              <a:rPr lang="de-DE" dirty="0" err="1"/>
              <a:t>blue</a:t>
            </a:r>
            <a:r>
              <a:rPr lang="de-DE" dirty="0"/>
              <a:t>, </a:t>
            </a:r>
            <a:r>
              <a:rPr lang="de-DE" dirty="0" err="1"/>
              <a:t>green</a:t>
            </a:r>
            <a:r>
              <a:rPr lang="de-DE" dirty="0"/>
              <a:t>); -/- (</a:t>
            </a:r>
            <a:r>
              <a:rPr lang="de-DE" dirty="0" err="1"/>
              <a:t>grey</a:t>
            </a:r>
            <a:r>
              <a:rPr lang="de-DE" dirty="0"/>
              <a:t>). </a:t>
            </a:r>
          </a:p>
          <a:p>
            <a:r>
              <a:rPr lang="de-DE" dirty="0"/>
              <a:t>B) Viable CD34+/45+ HSPC </a:t>
            </a:r>
            <a:r>
              <a:rPr lang="de-DE" dirty="0" err="1"/>
              <a:t>harvested</a:t>
            </a:r>
            <a:r>
              <a:rPr lang="de-DE" dirty="0"/>
              <a:t> on </a:t>
            </a:r>
            <a:r>
              <a:rPr lang="de-DE" dirty="0" err="1"/>
              <a:t>day</a:t>
            </a:r>
            <a:r>
              <a:rPr lang="de-DE" dirty="0"/>
              <a:t> 11-12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culture</a:t>
            </a:r>
            <a:r>
              <a:rPr lang="de-DE" dirty="0"/>
              <a:t>, C) </a:t>
            </a:r>
            <a:r>
              <a:rPr lang="de-DE" dirty="0" err="1"/>
              <a:t>derived</a:t>
            </a:r>
            <a:r>
              <a:rPr lang="de-DE" dirty="0"/>
              <a:t> CD34-/45+ </a:t>
            </a:r>
            <a:r>
              <a:rPr lang="de-DE" dirty="0" err="1"/>
              <a:t>leukocytes</a:t>
            </a:r>
            <a:r>
              <a:rPr lang="de-DE" dirty="0"/>
              <a:t> on </a:t>
            </a:r>
            <a:r>
              <a:rPr lang="de-DE" dirty="0" err="1"/>
              <a:t>day</a:t>
            </a:r>
            <a:r>
              <a:rPr lang="de-DE" dirty="0"/>
              <a:t> 16-18, and D) </a:t>
            </a:r>
            <a:r>
              <a:rPr lang="de-DE" dirty="0" err="1"/>
              <a:t>derived</a:t>
            </a:r>
            <a:r>
              <a:rPr lang="de-DE" dirty="0"/>
              <a:t> myeloid </a:t>
            </a:r>
            <a:r>
              <a:rPr lang="de-DE" dirty="0" err="1"/>
              <a:t>cells</a:t>
            </a:r>
            <a:r>
              <a:rPr lang="de-DE" dirty="0"/>
              <a:t> </a:t>
            </a:r>
            <a:r>
              <a:rPr lang="de-DE" dirty="0" err="1"/>
              <a:t>expressing</a:t>
            </a:r>
            <a:r>
              <a:rPr lang="de-DE" dirty="0"/>
              <a:t> CD45 and </a:t>
            </a:r>
            <a:r>
              <a:rPr lang="de-DE" dirty="0" err="1"/>
              <a:t>either</a:t>
            </a:r>
            <a:r>
              <a:rPr lang="de-DE" dirty="0"/>
              <a:t> CD11b </a:t>
            </a:r>
            <a:r>
              <a:rPr lang="de-DE" dirty="0" err="1"/>
              <a:t>or</a:t>
            </a:r>
            <a:r>
              <a:rPr lang="de-DE" dirty="0"/>
              <a:t> CD33 on </a:t>
            </a:r>
            <a:r>
              <a:rPr lang="de-DE" dirty="0" err="1"/>
              <a:t>day</a:t>
            </a:r>
            <a:r>
              <a:rPr lang="de-DE" dirty="0"/>
              <a:t> 20-21. </a:t>
            </a:r>
          </a:p>
          <a:p>
            <a:r>
              <a:rPr lang="de-DE" dirty="0"/>
              <a:t>E) </a:t>
            </a:r>
            <a:r>
              <a:rPr lang="de-DE" dirty="0" err="1"/>
              <a:t>Exemplary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cytometry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cell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E5C3. </a:t>
            </a:r>
          </a:p>
          <a:p>
            <a:r>
              <a:rPr lang="de-DE" dirty="0"/>
              <a:t>F) </a:t>
            </a:r>
            <a:r>
              <a:rPr lang="de-DE" dirty="0" err="1"/>
              <a:t>Exemplary</a:t>
            </a:r>
            <a:r>
              <a:rPr lang="de-DE" dirty="0"/>
              <a:t> </a:t>
            </a:r>
            <a:r>
              <a:rPr lang="de-DE" dirty="0" err="1"/>
              <a:t>cytospin</a:t>
            </a:r>
            <a:r>
              <a:rPr lang="de-DE" dirty="0"/>
              <a:t> </a:t>
            </a:r>
            <a:r>
              <a:rPr lang="de-DE" dirty="0" err="1"/>
              <a:t>specimens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E5C3 on </a:t>
            </a:r>
            <a:r>
              <a:rPr lang="de-DE" dirty="0" err="1"/>
              <a:t>day</a:t>
            </a:r>
            <a:r>
              <a:rPr lang="de-DE" dirty="0"/>
              <a:t> 21; </a:t>
            </a:r>
            <a:r>
              <a:rPr lang="de-DE" dirty="0" err="1"/>
              <a:t>HemaStain</a:t>
            </a:r>
            <a:r>
              <a:rPr lang="de-DE" dirty="0"/>
              <a:t> 3. </a:t>
            </a:r>
          </a:p>
          <a:p>
            <a:endParaRPr lang="de-DE" dirty="0"/>
          </a:p>
          <a:p>
            <a:r>
              <a:rPr lang="de-DE" dirty="0"/>
              <a:t>Notes: </a:t>
            </a:r>
          </a:p>
          <a:p>
            <a:r>
              <a:rPr lang="de-DE" dirty="0"/>
              <a:t>- Add D, F.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Consider</a:t>
            </a:r>
            <a:r>
              <a:rPr lang="de-DE" dirty="0"/>
              <a:t> </a:t>
            </a:r>
            <a:r>
              <a:rPr lang="de-DE" dirty="0" err="1"/>
              <a:t>re-calculating</a:t>
            </a:r>
            <a:r>
              <a:rPr lang="de-DE" dirty="0"/>
              <a:t> B, C, 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consistent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recent</a:t>
            </a:r>
            <a:r>
              <a:rPr lang="de-DE" dirty="0"/>
              <a:t> / </a:t>
            </a:r>
            <a:r>
              <a:rPr lang="de-DE" dirty="0" err="1"/>
              <a:t>accurate</a:t>
            </a:r>
            <a:r>
              <a:rPr lang="de-DE" dirty="0"/>
              <a:t> </a:t>
            </a:r>
            <a:r>
              <a:rPr lang="de-DE" dirty="0" err="1"/>
              <a:t>gating</a:t>
            </a:r>
            <a:r>
              <a:rPr lang="de-DE" dirty="0"/>
              <a:t>,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older</a:t>
            </a:r>
            <a:r>
              <a:rPr lang="de-DE" dirty="0"/>
              <a:t> </a:t>
            </a:r>
            <a:r>
              <a:rPr lang="de-DE" dirty="0" err="1"/>
              <a:t>gating</a:t>
            </a:r>
            <a:r>
              <a:rPr lang="de-DE" dirty="0"/>
              <a:t> in [</a:t>
            </a:r>
            <a:r>
              <a:rPr lang="de-DE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HD1 &amp; HD3 &amp; HD9.xlsx](</a:t>
            </a:r>
            <a:r>
              <a:rPr lang="de-DE" dirty="0"/>
              <a:t>https://1drv.ms/x/c/2c6e7480743f438e/IQBojqzbrfp7SIcg4D20fRt_AeAE59NXT9bFjvx8eZk766o?e=EGljCP). Also </a:t>
            </a:r>
            <a:r>
              <a:rPr lang="de-DE" dirty="0" err="1"/>
              <a:t>confirm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per </a:t>
            </a:r>
            <a:r>
              <a:rPr lang="de-DE" dirty="0" err="1"/>
              <a:t>cell</a:t>
            </a:r>
            <a:r>
              <a:rPr lang="de-DE" dirty="0"/>
              <a:t> </a:t>
            </a:r>
            <a:r>
              <a:rPr lang="de-DE" dirty="0" err="1"/>
              <a:t>count</a:t>
            </a:r>
            <a:r>
              <a:rPr lang="de-DE" dirty="0"/>
              <a:t> and per </a:t>
            </a:r>
            <a:r>
              <a:rPr lang="de-DE" dirty="0" err="1"/>
              <a:t>culture</a:t>
            </a:r>
            <a:r>
              <a:rPr lang="de-DE" dirty="0"/>
              <a:t> </a:t>
            </a:r>
            <a:r>
              <a:rPr lang="de-DE" dirty="0" err="1"/>
              <a:t>volume</a:t>
            </a:r>
            <a:r>
              <a:rPr lang="de-DE" dirty="0"/>
              <a:t> </a:t>
            </a:r>
            <a:r>
              <a:rPr lang="de-DE" dirty="0" err="1"/>
              <a:t>calculations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accurate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expect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leukocytes</a:t>
            </a:r>
            <a:r>
              <a:rPr lang="de-DE" dirty="0"/>
              <a:t>/</a:t>
            </a:r>
            <a:r>
              <a:rPr lang="de-DE" dirty="0" err="1"/>
              <a:t>iPSC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pronounced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HSPC/</a:t>
            </a:r>
            <a:r>
              <a:rPr lang="de-DE" dirty="0" err="1"/>
              <a:t>volume</a:t>
            </a:r>
            <a:r>
              <a:rPr lang="de-DE" dirty="0"/>
              <a:t> and </a:t>
            </a:r>
            <a:r>
              <a:rPr lang="de-DE" dirty="0" err="1"/>
              <a:t>Leukocytes</a:t>
            </a:r>
            <a:r>
              <a:rPr lang="de-DE" dirty="0"/>
              <a:t>/</a:t>
            </a:r>
            <a:r>
              <a:rPr lang="de-DE" dirty="0" err="1"/>
              <a:t>volume</a:t>
            </a:r>
            <a:r>
              <a:rPr lang="de-DE" dirty="0"/>
              <a:t>. </a:t>
            </a:r>
          </a:p>
          <a:p>
            <a:pPr marL="171450" indent="-171450">
              <a:buFontTx/>
              <a:buChar char="-"/>
            </a:pPr>
            <a:r>
              <a:rPr lang="de-DE" dirty="0"/>
              <a:t>Add E5C3 ROS, Chemotaxis, and </a:t>
            </a:r>
            <a:r>
              <a:rPr lang="de-DE" dirty="0" err="1"/>
              <a:t>Phagocytosis</a:t>
            </a:r>
            <a:r>
              <a:rPr lang="de-DE" dirty="0"/>
              <a:t> </a:t>
            </a:r>
            <a:r>
              <a:rPr lang="de-DE" dirty="0" err="1"/>
              <a:t>below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figure</a:t>
            </a:r>
            <a:r>
              <a:rPr lang="de-DE" dirty="0"/>
              <a:t>. </a:t>
            </a:r>
            <a:r>
              <a:rPr lang="de-DE" dirty="0" err="1"/>
              <a:t>Cytokine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suppl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in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too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857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Add CFC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cell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, i.e., </a:t>
            </a:r>
            <a:r>
              <a:rPr lang="de-DE" dirty="0" err="1"/>
              <a:t>experiments</a:t>
            </a:r>
            <a:r>
              <a:rPr lang="de-DE" dirty="0"/>
              <a:t> HD1/HD12, </a:t>
            </a:r>
            <a:r>
              <a:rPr lang="de-DE" dirty="0" err="1"/>
              <a:t>too</a:t>
            </a:r>
            <a:r>
              <a:rPr lang="de-DE" dirty="0"/>
              <a:t>. </a:t>
            </a:r>
            <a:r>
              <a:rPr lang="de-DE" dirty="0" err="1"/>
              <a:t>For</a:t>
            </a:r>
            <a:r>
              <a:rPr lang="de-DE" dirty="0"/>
              <a:t> E5C3/HD11, SD </a:t>
            </a:r>
            <a:r>
              <a:rPr lang="de-DE" dirty="0" err="1"/>
              <a:t>had</a:t>
            </a:r>
            <a:r>
              <a:rPr lang="de-DE" dirty="0"/>
              <a:t> </a:t>
            </a:r>
            <a:r>
              <a:rPr lang="de-DE" dirty="0" err="1"/>
              <a:t>ruined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CFC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shaking</a:t>
            </a:r>
            <a:r>
              <a:rPr lang="de-DE" dirty="0"/>
              <a:t>, but </a:t>
            </a:r>
            <a:r>
              <a:rPr lang="de-DE" dirty="0" err="1"/>
              <a:t>reviewers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won‘t</a:t>
            </a:r>
            <a:r>
              <a:rPr lang="de-DE" dirty="0"/>
              <a:t> </a:t>
            </a:r>
            <a:r>
              <a:rPr lang="de-DE" dirty="0" err="1"/>
              <a:t>notice</a:t>
            </a:r>
            <a:r>
              <a:rPr lang="de-DE" dirty="0"/>
              <a:t> </a:t>
            </a:r>
            <a:r>
              <a:rPr lang="de-DE" dirty="0" err="1"/>
              <a:t>it‘s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it‘s</a:t>
            </a:r>
            <a:r>
              <a:rPr lang="de-DE" dirty="0"/>
              <a:t> not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manuscript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190FF-CA2B-4B2E-84CB-7484EB753B7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72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35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18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03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83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25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80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99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78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49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58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55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DF687-3450-4F55-8625-AA3E482AC8C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2CF95-7CDB-4C20-B84F-C4420A6F80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07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13" Type="http://schemas.openxmlformats.org/officeDocument/2006/relationships/image" Target="../media/image11.png"/><Relationship Id="rId18" Type="http://schemas.openxmlformats.org/officeDocument/2006/relationships/image" Target="../media/image51.png"/><Relationship Id="rId3" Type="http://schemas.openxmlformats.org/officeDocument/2006/relationships/chart" Target="../charts/chart1.xml"/><Relationship Id="rId21" Type="http://schemas.microsoft.com/office/2014/relationships/chartEx" Target="../charts/chartEx4.xml"/><Relationship Id="rId7" Type="http://schemas.openxmlformats.org/officeDocument/2006/relationships/chart" Target="../charts/chart5.xml"/><Relationship Id="rId12" Type="http://schemas.openxmlformats.org/officeDocument/2006/relationships/image" Target="../media/image17.png"/><Relationship Id="rId17" Type="http://schemas.microsoft.com/office/2014/relationships/chartEx" Target="../charts/chartEx2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image" Target="../media/image12.png"/><Relationship Id="rId5" Type="http://schemas.openxmlformats.org/officeDocument/2006/relationships/chart" Target="../charts/chart3.xml"/><Relationship Id="rId15" Type="http://schemas.microsoft.com/office/2014/relationships/chartEx" Target="../charts/chartEx1.xml"/><Relationship Id="rId10" Type="http://schemas.openxmlformats.org/officeDocument/2006/relationships/image" Target="../media/image18.png"/><Relationship Id="rId19" Type="http://schemas.microsoft.com/office/2014/relationships/chartEx" Target="../charts/chartEx3.xml"/><Relationship Id="rId4" Type="http://schemas.openxmlformats.org/officeDocument/2006/relationships/chart" Target="../charts/chart2.xml"/><Relationship Id="rId9" Type="http://schemas.openxmlformats.org/officeDocument/2006/relationships/image" Target="../media/image13.png"/><Relationship Id="rId14" Type="http://schemas.openxmlformats.org/officeDocument/2006/relationships/image" Target="../media/image16.png"/><Relationship Id="rId22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2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8.png"/><Relationship Id="rId9" Type="http://schemas.openxmlformats.org/officeDocument/2006/relationships/image" Target="../media/image40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725"/>
            <a:ext cx="2952750" cy="291465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1228725"/>
            <a:ext cx="2952750" cy="29146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1228725"/>
            <a:ext cx="2952750" cy="291465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1228725"/>
            <a:ext cx="2952750" cy="291465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43350"/>
            <a:ext cx="2952750" cy="291465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2750" y="3943350"/>
            <a:ext cx="2952750" cy="291465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3943350"/>
            <a:ext cx="2952750" cy="291465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3943350"/>
            <a:ext cx="2952750" cy="291465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0" y="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WB HD1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2247149" y="859393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9</a:t>
            </a:r>
            <a:endParaRPr lang="en-US" dirty="0"/>
          </a:p>
        </p:txBody>
      </p:sp>
      <p:sp>
        <p:nvSpPr>
          <p:cNvPr id="15" name="Textfeld 14"/>
          <p:cNvSpPr txBox="1"/>
          <p:nvPr/>
        </p:nvSpPr>
        <p:spPr>
          <a:xfrm>
            <a:off x="5078565" y="859393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12</a:t>
            </a:r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8033472" y="842486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17</a:t>
            </a:r>
            <a:endParaRPr lang="en-US" dirty="0"/>
          </a:p>
        </p:txBody>
      </p:sp>
      <p:sp>
        <p:nvSpPr>
          <p:cNvPr id="18" name="Textfeld 17"/>
          <p:cNvSpPr txBox="1"/>
          <p:nvPr/>
        </p:nvSpPr>
        <p:spPr>
          <a:xfrm>
            <a:off x="10986222" y="859393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20</a:t>
            </a:r>
            <a:endParaRPr lang="en-US" dirty="0"/>
          </a:p>
        </p:txBody>
      </p:sp>
      <p:sp>
        <p:nvSpPr>
          <p:cNvPr id="19" name="Textfeld 18"/>
          <p:cNvSpPr txBox="1"/>
          <p:nvPr/>
        </p:nvSpPr>
        <p:spPr>
          <a:xfrm>
            <a:off x="-43568" y="85939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80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2423679" cy="24003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080" y="914400"/>
            <a:ext cx="2423679" cy="24003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160" y="914400"/>
            <a:ext cx="2423679" cy="24003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240" y="914400"/>
            <a:ext cx="2423679" cy="24003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8320" y="914400"/>
            <a:ext cx="2423679" cy="24003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3684032"/>
            <a:ext cx="2423679" cy="24003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2079" y="3684032"/>
            <a:ext cx="2423679" cy="24003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4159" y="3684032"/>
            <a:ext cx="2423679" cy="24003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6239" y="3684032"/>
            <a:ext cx="2423679" cy="24003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8320" y="3684032"/>
            <a:ext cx="2423679" cy="240030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1715920" y="545068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6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4139598" y="545068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9</a:t>
            </a:r>
            <a:endParaRPr lang="en-US" dirty="0"/>
          </a:p>
        </p:txBody>
      </p:sp>
      <p:sp>
        <p:nvSpPr>
          <p:cNvPr id="14" name="Textfeld 13"/>
          <p:cNvSpPr txBox="1"/>
          <p:nvPr/>
        </p:nvSpPr>
        <p:spPr>
          <a:xfrm>
            <a:off x="6483060" y="5450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12</a:t>
            </a:r>
            <a:endParaRPr lang="en-US" dirty="0"/>
          </a:p>
        </p:txBody>
      </p:sp>
      <p:sp>
        <p:nvSpPr>
          <p:cNvPr id="15" name="Textfeld 14"/>
          <p:cNvSpPr txBox="1"/>
          <p:nvPr/>
        </p:nvSpPr>
        <p:spPr>
          <a:xfrm>
            <a:off x="8906738" y="5450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18</a:t>
            </a:r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0" y="24884"/>
            <a:ext cx="108876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/>
              <a:t>WB HD11</a:t>
            </a:r>
            <a:endParaRPr lang="en-US" dirty="0"/>
          </a:p>
        </p:txBody>
      </p:sp>
      <p:sp>
        <p:nvSpPr>
          <p:cNvPr id="17" name="Textfeld 16"/>
          <p:cNvSpPr txBox="1"/>
          <p:nvPr/>
        </p:nvSpPr>
        <p:spPr>
          <a:xfrm>
            <a:off x="11367221" y="5450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20</a:t>
            </a:r>
            <a:endParaRPr lang="en-US" dirty="0"/>
          </a:p>
        </p:txBody>
      </p:sp>
      <p:sp>
        <p:nvSpPr>
          <p:cNvPr id="18" name="Textfeld 17"/>
          <p:cNvSpPr txBox="1"/>
          <p:nvPr/>
        </p:nvSpPr>
        <p:spPr>
          <a:xfrm>
            <a:off x="337431" y="54506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E8</a:t>
            </a:r>
            <a:endParaRPr lang="en-US" dirty="0"/>
          </a:p>
        </p:txBody>
      </p:sp>
      <p:sp>
        <p:nvSpPr>
          <p:cNvPr id="19" name="Textfeld 18"/>
          <p:cNvSpPr txBox="1"/>
          <p:nvPr/>
        </p:nvSpPr>
        <p:spPr>
          <a:xfrm>
            <a:off x="342752" y="331470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L4i</a:t>
            </a:r>
            <a:endParaRPr lang="en-US" dirty="0"/>
          </a:p>
        </p:txBody>
      </p:sp>
      <p:sp>
        <p:nvSpPr>
          <p:cNvPr id="20" name="Textfeld 19"/>
          <p:cNvSpPr txBox="1"/>
          <p:nvPr/>
        </p:nvSpPr>
        <p:spPr>
          <a:xfrm rot="16200000">
            <a:off x="-545467" y="178332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CD34</a:t>
            </a:r>
            <a:endParaRPr lang="en-US" dirty="0"/>
          </a:p>
        </p:txBody>
      </p:sp>
      <p:sp>
        <p:nvSpPr>
          <p:cNvPr id="21" name="Textfeld 20"/>
          <p:cNvSpPr txBox="1"/>
          <p:nvPr/>
        </p:nvSpPr>
        <p:spPr>
          <a:xfrm rot="16200000">
            <a:off x="-545471" y="46995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CD34</a:t>
            </a:r>
            <a:endParaRPr lang="en-US" dirty="0"/>
          </a:p>
        </p:txBody>
      </p:sp>
      <p:sp>
        <p:nvSpPr>
          <p:cNvPr id="22" name="Textfeld 21"/>
          <p:cNvSpPr txBox="1"/>
          <p:nvPr/>
        </p:nvSpPr>
        <p:spPr>
          <a:xfrm>
            <a:off x="6015426" y="61092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3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10890"/>
            <a:ext cx="2962275" cy="29337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75" y="410890"/>
            <a:ext cx="2962275" cy="29337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410890"/>
            <a:ext cx="2962275" cy="29337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300" y="3764518"/>
            <a:ext cx="2962275" cy="29337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575" y="3764518"/>
            <a:ext cx="2962275" cy="29337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849" y="3764518"/>
            <a:ext cx="2962275" cy="2933700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7015162" y="3344590"/>
            <a:ext cx="17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pH </a:t>
            </a:r>
            <a:r>
              <a:rPr lang="de-DE" dirty="0" err="1"/>
              <a:t>Rodo</a:t>
            </a:r>
            <a:r>
              <a:rPr lang="de-DE" dirty="0"/>
              <a:t> [E. Coli]</a:t>
            </a:r>
            <a:endParaRPr lang="en-US" dirty="0"/>
          </a:p>
        </p:txBody>
      </p:sp>
      <p:sp>
        <p:nvSpPr>
          <p:cNvPr id="11" name="Textfeld 10"/>
          <p:cNvSpPr txBox="1"/>
          <p:nvPr/>
        </p:nvSpPr>
        <p:spPr>
          <a:xfrm>
            <a:off x="7127757" y="6698218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ROX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Red</a:t>
            </a:r>
            <a:endParaRPr lang="en-US" dirty="0"/>
          </a:p>
        </p:txBody>
      </p:sp>
      <p:sp>
        <p:nvSpPr>
          <p:cNvPr id="12" name="Textfeld 11"/>
          <p:cNvSpPr txBox="1"/>
          <p:nvPr/>
        </p:nvSpPr>
        <p:spPr>
          <a:xfrm rot="16200000">
            <a:off x="2356310" y="4825592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Calcein</a:t>
            </a:r>
            <a:r>
              <a:rPr lang="de-DE" dirty="0"/>
              <a:t> AM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0" y="24884"/>
            <a:ext cx="108876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/>
              <a:t>WB HD11</a:t>
            </a:r>
            <a:endParaRPr lang="en-US" dirty="0"/>
          </a:p>
        </p:txBody>
      </p:sp>
      <p:sp>
        <p:nvSpPr>
          <p:cNvPr id="14" name="Textfeld 13"/>
          <p:cNvSpPr txBox="1"/>
          <p:nvPr/>
        </p:nvSpPr>
        <p:spPr>
          <a:xfrm rot="16200000">
            <a:off x="2603429" y="1472792"/>
            <a:ext cx="748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44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60" y="24884"/>
            <a:ext cx="2952750" cy="291465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260" y="24884"/>
            <a:ext cx="2952750" cy="29146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510" y="24884"/>
            <a:ext cx="2952750" cy="2914650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5517885" y="2910413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TNF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0" y="24884"/>
            <a:ext cx="108876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/>
              <a:t>WB HD11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29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7" y="392478"/>
            <a:ext cx="2905125" cy="286702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922" y="392478"/>
            <a:ext cx="2905125" cy="286702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997" y="389668"/>
            <a:ext cx="2952750" cy="286702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97" y="3421914"/>
            <a:ext cx="2924175" cy="286702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872" y="3421914"/>
            <a:ext cx="2924175" cy="286702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622" y="3421914"/>
            <a:ext cx="2905125" cy="2867025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 rot="16200000">
            <a:off x="-858948" y="2949625"/>
            <a:ext cx="229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Transmigrated</a:t>
            </a:r>
            <a:r>
              <a:rPr lang="de-DE" dirty="0"/>
              <a:t> </a:t>
            </a:r>
            <a:r>
              <a:rPr lang="de-DE" dirty="0" err="1"/>
              <a:t>cells</a:t>
            </a:r>
            <a:r>
              <a:rPr lang="de-DE" dirty="0"/>
              <a:t> [n]</a:t>
            </a:r>
          </a:p>
        </p:txBody>
      </p:sp>
      <p:sp>
        <p:nvSpPr>
          <p:cNvPr id="11" name="Rechteck 10"/>
          <p:cNvSpPr/>
          <p:nvPr/>
        </p:nvSpPr>
        <p:spPr>
          <a:xfrm>
            <a:off x="9292754" y="389668"/>
            <a:ext cx="2738018" cy="2442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Add bar </a:t>
            </a:r>
            <a:r>
              <a:rPr lang="de-DE" dirty="0" err="1"/>
              <a:t>graphs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96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3" y="990600"/>
            <a:ext cx="2962275" cy="29337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03" y="3924300"/>
            <a:ext cx="2962275" cy="29337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578" y="990600"/>
            <a:ext cx="2962275" cy="29337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3578" y="3924300"/>
            <a:ext cx="2962275" cy="29337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118" y="3924300"/>
            <a:ext cx="2962275" cy="29337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118" y="990600"/>
            <a:ext cx="2962275" cy="29337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5852" y="990600"/>
            <a:ext cx="2962275" cy="29337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5851" y="3924300"/>
            <a:ext cx="2962275" cy="293370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2298801" y="6212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11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5261073" y="6212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13</a:t>
            </a:r>
            <a:endParaRPr lang="en-US" dirty="0"/>
          </a:p>
        </p:txBody>
      </p:sp>
      <p:sp>
        <p:nvSpPr>
          <p:cNvPr id="14" name="Textfeld 13"/>
          <p:cNvSpPr txBox="1"/>
          <p:nvPr/>
        </p:nvSpPr>
        <p:spPr>
          <a:xfrm>
            <a:off x="8223345" y="6212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16</a:t>
            </a:r>
            <a:endParaRPr lang="en-US" dirty="0"/>
          </a:p>
        </p:txBody>
      </p:sp>
      <p:sp>
        <p:nvSpPr>
          <p:cNvPr id="15" name="Textfeld 14"/>
          <p:cNvSpPr txBox="1"/>
          <p:nvPr/>
        </p:nvSpPr>
        <p:spPr>
          <a:xfrm>
            <a:off x="11185615" y="62126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20</a:t>
            </a:r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0" y="24884"/>
            <a:ext cx="3033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WB HD12 – HSPC / </a:t>
            </a:r>
            <a:r>
              <a:rPr lang="de-DE" dirty="0" err="1"/>
              <a:t>Leukocytes</a:t>
            </a:r>
            <a:endParaRPr lang="en-US" dirty="0"/>
          </a:p>
        </p:txBody>
      </p:sp>
      <p:sp>
        <p:nvSpPr>
          <p:cNvPr id="17" name="Textfeld 16"/>
          <p:cNvSpPr txBox="1"/>
          <p:nvPr/>
        </p:nvSpPr>
        <p:spPr>
          <a:xfrm>
            <a:off x="5980444" y="667333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CD45</a:t>
            </a:r>
            <a:endParaRPr lang="en-US" dirty="0"/>
          </a:p>
        </p:txBody>
      </p:sp>
      <p:sp>
        <p:nvSpPr>
          <p:cNvPr id="18" name="Textfeld 17"/>
          <p:cNvSpPr txBox="1"/>
          <p:nvPr/>
        </p:nvSpPr>
        <p:spPr>
          <a:xfrm rot="16200000">
            <a:off x="-358784" y="3502034"/>
            <a:ext cx="71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CD34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79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/>
          <p:cNvSpPr txBox="1"/>
          <p:nvPr/>
        </p:nvSpPr>
        <p:spPr>
          <a:xfrm>
            <a:off x="1688498" y="394216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11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4650770" y="394216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13</a:t>
            </a:r>
            <a:endParaRPr lang="en-US" dirty="0"/>
          </a:p>
        </p:txBody>
      </p:sp>
      <p:sp>
        <p:nvSpPr>
          <p:cNvPr id="14" name="Textfeld 13"/>
          <p:cNvSpPr txBox="1"/>
          <p:nvPr/>
        </p:nvSpPr>
        <p:spPr>
          <a:xfrm>
            <a:off x="7613042" y="394216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16</a:t>
            </a:r>
            <a:endParaRPr lang="en-US" dirty="0"/>
          </a:p>
        </p:txBody>
      </p:sp>
      <p:sp>
        <p:nvSpPr>
          <p:cNvPr id="15" name="Textfeld 14"/>
          <p:cNvSpPr txBox="1"/>
          <p:nvPr/>
        </p:nvSpPr>
        <p:spPr>
          <a:xfrm>
            <a:off x="10575312" y="394216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Day 20</a:t>
            </a:r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0" y="24884"/>
            <a:ext cx="414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WB HD12 – </a:t>
            </a:r>
            <a:r>
              <a:rPr lang="de-DE" dirty="0" err="1"/>
              <a:t>Myeloid</a:t>
            </a:r>
            <a:r>
              <a:rPr lang="de-DE" dirty="0"/>
              <a:t> </a:t>
            </a:r>
            <a:r>
              <a:rPr lang="de-DE" dirty="0" err="1"/>
              <a:t>Lineage</a:t>
            </a:r>
            <a:r>
              <a:rPr lang="de-DE" dirty="0"/>
              <a:t> </a:t>
            </a:r>
            <a:r>
              <a:rPr lang="de-DE" dirty="0" err="1"/>
              <a:t>Commitment</a:t>
            </a:r>
            <a:endParaRPr lang="en-US" dirty="0"/>
          </a:p>
        </p:txBody>
      </p:sp>
      <p:sp>
        <p:nvSpPr>
          <p:cNvPr id="17" name="Textfeld 16"/>
          <p:cNvSpPr txBox="1"/>
          <p:nvPr/>
        </p:nvSpPr>
        <p:spPr>
          <a:xfrm>
            <a:off x="6267449" y="663094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CD45</a:t>
            </a:r>
            <a:endParaRPr lang="en-US" dirty="0"/>
          </a:p>
        </p:txBody>
      </p:sp>
      <p:sp>
        <p:nvSpPr>
          <p:cNvPr id="18" name="Textfeld 17"/>
          <p:cNvSpPr txBox="1"/>
          <p:nvPr/>
        </p:nvSpPr>
        <p:spPr>
          <a:xfrm rot="16200000">
            <a:off x="-142007" y="3332941"/>
            <a:ext cx="71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CD33</a:t>
            </a:r>
            <a:endParaRPr lang="en-US" dirty="0"/>
          </a:p>
        </p:txBody>
      </p:sp>
      <p:sp>
        <p:nvSpPr>
          <p:cNvPr id="20" name="Textfeld 19"/>
          <p:cNvSpPr txBox="1"/>
          <p:nvPr/>
        </p:nvSpPr>
        <p:spPr>
          <a:xfrm>
            <a:off x="829315" y="39421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E8</a:t>
            </a:r>
            <a:endParaRPr lang="en-US" dirty="0"/>
          </a:p>
        </p:txBody>
      </p:sp>
      <p:sp>
        <p:nvSpPr>
          <p:cNvPr id="21" name="Textfeld 20"/>
          <p:cNvSpPr txBox="1"/>
          <p:nvPr/>
        </p:nvSpPr>
        <p:spPr>
          <a:xfrm>
            <a:off x="829315" y="333796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L4i</a:t>
            </a:r>
            <a:endParaRPr lang="en-US" dirty="0"/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3" y="763548"/>
            <a:ext cx="2962275" cy="2933700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2" y="3697248"/>
            <a:ext cx="2962275" cy="29337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77" y="763548"/>
            <a:ext cx="2962275" cy="29337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177" y="3697248"/>
            <a:ext cx="2962275" cy="29337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2" y="763548"/>
            <a:ext cx="2962275" cy="2933700"/>
          </a:xfrm>
          <a:prstGeom prst="rect">
            <a:avLst/>
          </a:prstGeom>
        </p:spPr>
      </p:pic>
      <p:pic>
        <p:nvPicPr>
          <p:cNvPr id="33" name="Grafik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1" y="3697248"/>
            <a:ext cx="2962275" cy="2933700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725" y="763548"/>
            <a:ext cx="2962275" cy="2933700"/>
          </a:xfrm>
          <a:prstGeom prst="rect">
            <a:avLst/>
          </a:prstGeom>
        </p:spPr>
      </p:pic>
      <p:pic>
        <p:nvPicPr>
          <p:cNvPr id="35" name="Grafik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9724" y="3697248"/>
            <a:ext cx="29622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1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6B402526-1D2B-4570-B750-C2B431A43AB3}"/>
              </a:ext>
            </a:extLst>
          </p:cNvPr>
          <p:cNvGrpSpPr/>
          <p:nvPr/>
        </p:nvGrpSpPr>
        <p:grpSpPr>
          <a:xfrm>
            <a:off x="0" y="-63500"/>
            <a:ext cx="6433731" cy="4567338"/>
            <a:chOff x="0" y="-63500"/>
            <a:chExt cx="6433731" cy="4567338"/>
          </a:xfrm>
        </p:grpSpPr>
        <p:graphicFrame>
          <p:nvGraphicFramePr>
            <p:cNvPr id="4" name="Diagramm 3">
              <a:extLst>
                <a:ext uri="{FF2B5EF4-FFF2-40B4-BE49-F238E27FC236}">
                  <a16:creationId xmlns:a16="http://schemas.microsoft.com/office/drawing/2014/main" id="{B736D003-7B26-431D-97BD-73E7BB80386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83200646"/>
                </p:ext>
              </p:extLst>
            </p:nvPr>
          </p:nvGraphicFramePr>
          <p:xfrm>
            <a:off x="4358830" y="95360"/>
            <a:ext cx="2074901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5" name="Diagramm 4">
              <a:extLst>
                <a:ext uri="{FF2B5EF4-FFF2-40B4-BE49-F238E27FC236}">
                  <a16:creationId xmlns:a16="http://schemas.microsoft.com/office/drawing/2014/main" id="{0802DC44-9388-40B9-AEAD-42AFA183BF3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48488050"/>
                </p:ext>
              </p:extLst>
            </p:nvPr>
          </p:nvGraphicFramePr>
          <p:xfrm>
            <a:off x="4358830" y="2117825"/>
            <a:ext cx="2074901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6" name="Diagramm 5">
              <a:extLst>
                <a:ext uri="{FF2B5EF4-FFF2-40B4-BE49-F238E27FC236}">
                  <a16:creationId xmlns:a16="http://schemas.microsoft.com/office/drawing/2014/main" id="{F94D317A-8B46-4AC0-9AAC-DCE6D2C65B9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67920966"/>
                </p:ext>
              </p:extLst>
            </p:nvPr>
          </p:nvGraphicFramePr>
          <p:xfrm>
            <a:off x="2283929" y="95357"/>
            <a:ext cx="2074901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7" name="Diagramm 6">
              <a:extLst>
                <a:ext uri="{FF2B5EF4-FFF2-40B4-BE49-F238E27FC236}">
                  <a16:creationId xmlns:a16="http://schemas.microsoft.com/office/drawing/2014/main" id="{BA551507-81BA-4337-A298-9E9C1D45CCA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64675348"/>
                </p:ext>
              </p:extLst>
            </p:nvPr>
          </p:nvGraphicFramePr>
          <p:xfrm>
            <a:off x="2283929" y="2117821"/>
            <a:ext cx="2074901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8" name="Diagramm 7">
              <a:extLst>
                <a:ext uri="{FF2B5EF4-FFF2-40B4-BE49-F238E27FC236}">
                  <a16:creationId xmlns:a16="http://schemas.microsoft.com/office/drawing/2014/main" id="{6B48E0E0-7439-40D4-BA0A-81640E14262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5694393"/>
                </p:ext>
              </p:extLst>
            </p:nvPr>
          </p:nvGraphicFramePr>
          <p:xfrm>
            <a:off x="0" y="95355"/>
            <a:ext cx="2283929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9" name="Diagramm 8">
              <a:extLst>
                <a:ext uri="{FF2B5EF4-FFF2-40B4-BE49-F238E27FC236}">
                  <a16:creationId xmlns:a16="http://schemas.microsoft.com/office/drawing/2014/main" id="{15E71FF9-0592-41EE-9958-A48BB4FC54A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24888825"/>
                </p:ext>
              </p:extLst>
            </p:nvPr>
          </p:nvGraphicFramePr>
          <p:xfrm>
            <a:off x="0" y="2117819"/>
            <a:ext cx="2283929" cy="2386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33005B3F-1402-4F8D-9F6E-17CA73772CFC}"/>
                </a:ext>
              </a:extLst>
            </p:cNvPr>
            <p:cNvSpPr txBox="1"/>
            <p:nvPr/>
          </p:nvSpPr>
          <p:spPr>
            <a:xfrm>
              <a:off x="0" y="-6350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A</a:t>
              </a:r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3E09711D-1FC6-4E97-B249-E1B104514B8B}"/>
              </a:ext>
            </a:extLst>
          </p:cNvPr>
          <p:cNvSpPr txBox="1"/>
          <p:nvPr/>
        </p:nvSpPr>
        <p:spPr>
          <a:xfrm>
            <a:off x="6382024" y="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E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D57348F2-0A74-40DD-B20B-325A1EB4DDB6}"/>
              </a:ext>
            </a:extLst>
          </p:cNvPr>
          <p:cNvGrpSpPr>
            <a:grpSpLocks noChangeAspect="1"/>
          </p:cNvGrpSpPr>
          <p:nvPr/>
        </p:nvGrpSpPr>
        <p:grpSpPr>
          <a:xfrm>
            <a:off x="6438177" y="65873"/>
            <a:ext cx="5494559" cy="4093043"/>
            <a:chOff x="39287" y="4362387"/>
            <a:chExt cx="3844248" cy="2863683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1A78A9C0-ECB5-46A3-9805-09FEA1F3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29507" y="4536435"/>
              <a:ext cx="1454028" cy="1440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9620964C-B510-4BD5-8624-14D3D189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29507" y="5734237"/>
              <a:ext cx="1454028" cy="1440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7D32EE5A-E60C-49C3-9AEF-9785C2064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71312" y="4536435"/>
              <a:ext cx="1454028" cy="1440000"/>
            </a:xfrm>
            <a:prstGeom prst="rect">
              <a:avLst/>
            </a:prstGeom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5896D366-9FA4-4B66-993F-C58EE5349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71312" y="5734237"/>
              <a:ext cx="1454028" cy="1440000"/>
            </a:xfrm>
            <a:prstGeom prst="rect">
              <a:avLst/>
            </a:prstGeom>
          </p:spPr>
        </p:pic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2D9F355B-E42C-4E4B-9C9E-101E5A4AE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2292" y="4536435"/>
              <a:ext cx="1454028" cy="1440000"/>
            </a:xfrm>
            <a:prstGeom prst="rect">
              <a:avLst/>
            </a:prstGeom>
          </p:spPr>
        </p:pic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231A9D64-7235-4FE1-B0A8-33C4A1321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2292" y="5734237"/>
              <a:ext cx="1454028" cy="1440000"/>
            </a:xfrm>
            <a:prstGeom prst="rect">
              <a:avLst/>
            </a:prstGeom>
          </p:spPr>
        </p:pic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84B78DD4-0481-44FB-8D67-D472E4B48B27}"/>
                </a:ext>
              </a:extLst>
            </p:cNvPr>
            <p:cNvGrpSpPr/>
            <p:nvPr/>
          </p:nvGrpSpPr>
          <p:grpSpPr>
            <a:xfrm>
              <a:off x="370538" y="7111452"/>
              <a:ext cx="3512997" cy="114618"/>
              <a:chOff x="411480" y="2484120"/>
              <a:chExt cx="7003323" cy="114618"/>
            </a:xfrm>
          </p:grpSpPr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26E6519E-E025-4BC6-85EE-D801CE042D4A}"/>
                  </a:ext>
                </a:extLst>
              </p:cNvPr>
              <p:cNvSpPr/>
              <p:nvPr/>
            </p:nvSpPr>
            <p:spPr>
              <a:xfrm>
                <a:off x="418404" y="2497138"/>
                <a:ext cx="6996399" cy="10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</a:rPr>
                  <a:t>CD45</a:t>
                </a:r>
              </a:p>
            </p:txBody>
          </p:sp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09904D3D-F18A-4F37-ACF3-07214D005D5D}"/>
                  </a:ext>
                </a:extLst>
              </p:cNvPr>
              <p:cNvCxnSpPr/>
              <p:nvPr/>
            </p:nvCxnSpPr>
            <p:spPr>
              <a:xfrm>
                <a:off x="411480" y="2484120"/>
                <a:ext cx="700332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B0043A9E-8182-4145-AE47-480A971F87FD}"/>
                </a:ext>
              </a:extLst>
            </p:cNvPr>
            <p:cNvGrpSpPr/>
            <p:nvPr/>
          </p:nvGrpSpPr>
          <p:grpSpPr>
            <a:xfrm>
              <a:off x="39287" y="4536435"/>
              <a:ext cx="183035" cy="2154054"/>
              <a:chOff x="74158" y="231006"/>
              <a:chExt cx="183035" cy="2154054"/>
            </a:xfrm>
          </p:grpSpPr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C41E208D-184E-444E-8A86-693CBD1D9ACB}"/>
                  </a:ext>
                </a:extLst>
              </p:cNvPr>
              <p:cNvSpPr/>
              <p:nvPr/>
            </p:nvSpPr>
            <p:spPr>
              <a:xfrm>
                <a:off x="147566" y="231006"/>
                <a:ext cx="92092" cy="21540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Gerader Verbinder 71">
                <a:extLst>
                  <a:ext uri="{FF2B5EF4-FFF2-40B4-BE49-F238E27FC236}">
                    <a16:creationId xmlns:a16="http://schemas.microsoft.com/office/drawing/2014/main" id="{D5B05EF8-9A16-42F8-B3E0-CEFA3689D0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658" y="231006"/>
                <a:ext cx="0" cy="21540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F4B1CEC8-DB2A-4D1C-8213-C3C383E36B4E}"/>
                  </a:ext>
                </a:extLst>
              </p:cNvPr>
              <p:cNvSpPr txBox="1"/>
              <p:nvPr/>
            </p:nvSpPr>
            <p:spPr>
              <a:xfrm rot="16200000">
                <a:off x="-6031" y="1231610"/>
                <a:ext cx="343414" cy="183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CD34</a:t>
                </a:r>
              </a:p>
            </p:txBody>
          </p:sp>
        </p:grp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3ABE31C-AC70-4CA3-BDB0-C29D1CE58633}"/>
                </a:ext>
              </a:extLst>
            </p:cNvPr>
            <p:cNvSpPr txBox="1"/>
            <p:nvPr/>
          </p:nvSpPr>
          <p:spPr>
            <a:xfrm>
              <a:off x="338604" y="4368044"/>
              <a:ext cx="331077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E5C3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52C4D22C-46D6-4790-B382-DC5C103CBE9F}"/>
                </a:ext>
              </a:extLst>
            </p:cNvPr>
            <p:cNvSpPr txBox="1"/>
            <p:nvPr/>
          </p:nvSpPr>
          <p:spPr>
            <a:xfrm>
              <a:off x="338604" y="4518352"/>
              <a:ext cx="227896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solidFill>
                    <a:schemeClr val="accent5"/>
                  </a:solidFill>
                </a:rPr>
                <a:t>E8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F2A34C3C-B06A-4797-BF2A-8DE1C6B1A4F0}"/>
                </a:ext>
              </a:extLst>
            </p:cNvPr>
            <p:cNvSpPr txBox="1"/>
            <p:nvPr/>
          </p:nvSpPr>
          <p:spPr>
            <a:xfrm>
              <a:off x="332508" y="5713185"/>
              <a:ext cx="243597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solidFill>
                    <a:srgbClr val="FF0000"/>
                  </a:solidFill>
                </a:rPr>
                <a:t>L4i</a:t>
              </a:r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98DFAEBC-8585-465F-8E43-D998B7989D52}"/>
                </a:ext>
              </a:extLst>
            </p:cNvPr>
            <p:cNvSpPr txBox="1"/>
            <p:nvPr/>
          </p:nvSpPr>
          <p:spPr>
            <a:xfrm>
              <a:off x="1270202" y="4362387"/>
              <a:ext cx="281729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d12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8A546EB5-CEF3-485C-93DA-E76906A6C5E6}"/>
                </a:ext>
              </a:extLst>
            </p:cNvPr>
            <p:cNvSpPr txBox="1"/>
            <p:nvPr/>
          </p:nvSpPr>
          <p:spPr>
            <a:xfrm>
              <a:off x="2426732" y="4362387"/>
              <a:ext cx="281729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d18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C21FEAB9-4573-457C-A14F-C3CB90E134C7}"/>
                </a:ext>
              </a:extLst>
            </p:cNvPr>
            <p:cNvSpPr txBox="1"/>
            <p:nvPr/>
          </p:nvSpPr>
          <p:spPr>
            <a:xfrm>
              <a:off x="3574337" y="4362387"/>
              <a:ext cx="281729" cy="183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d20</a:t>
              </a:r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133D2C2F-72B1-4920-A486-BFD912F0E4DB}"/>
              </a:ext>
            </a:extLst>
          </p:cNvPr>
          <p:cNvSpPr txBox="1"/>
          <p:nvPr/>
        </p:nvSpPr>
        <p:spPr>
          <a:xfrm>
            <a:off x="0" y="42429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B</a:t>
            </a:r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7922BC7E-B784-4485-8852-D0D6B1868B35}"/>
              </a:ext>
            </a:extLst>
          </p:cNvPr>
          <p:cNvGrpSpPr/>
          <p:nvPr/>
        </p:nvGrpSpPr>
        <p:grpSpPr>
          <a:xfrm>
            <a:off x="1587684" y="4125426"/>
            <a:ext cx="1724011" cy="2217737"/>
            <a:chOff x="2254187" y="4039701"/>
            <a:chExt cx="2118360" cy="2217737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12" name="Chart 3">
                  <a:extLst>
                    <a:ext uri="{FF2B5EF4-FFF2-40B4-BE49-F238E27FC236}">
                      <a16:creationId xmlns:a16="http://schemas.microsoft.com/office/drawing/2014/main" id="{D9824E30-0819-4B47-834C-5B5E3427054C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314702139"/>
                    </p:ext>
                  </p:extLst>
                </p:nvPr>
              </p:nvGraphicFramePr>
              <p:xfrm>
                <a:off x="2254187" y="4039701"/>
                <a:ext cx="2118360" cy="2138403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15"/>
                </a:graphicData>
              </a:graphic>
            </p:graphicFrame>
          </mc:Choice>
          <mc:Fallback xmlns="">
            <p:pic>
              <p:nvPicPr>
                <p:cNvPr id="12" name="Chart 3">
                  <a:extLst>
                    <a:ext uri="{FF2B5EF4-FFF2-40B4-BE49-F238E27FC236}">
                      <a16:creationId xmlns:a16="http://schemas.microsoft.com/office/drawing/2014/main" id="{D9824E30-0819-4B47-834C-5B5E3427054C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87684" y="4125426"/>
                  <a:ext cx="1724011" cy="213840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784C257-5CE3-43F5-81F1-93FBB998124D}"/>
                </a:ext>
              </a:extLst>
            </p:cNvPr>
            <p:cNvGrpSpPr/>
            <p:nvPr/>
          </p:nvGrpSpPr>
          <p:grpSpPr>
            <a:xfrm>
              <a:off x="2860301" y="6043863"/>
              <a:ext cx="1162050" cy="213575"/>
              <a:chOff x="574675" y="2566447"/>
              <a:chExt cx="1162050" cy="274307"/>
            </a:xfrm>
          </p:grpSpPr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3D71811E-253E-4279-97C3-692270BD16C5}"/>
                  </a:ext>
                </a:extLst>
              </p:cNvPr>
              <p:cNvSpPr txBox="1"/>
              <p:nvPr/>
            </p:nvSpPr>
            <p:spPr>
              <a:xfrm>
                <a:off x="942035" y="2579143"/>
                <a:ext cx="325730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E8</a:t>
                </a:r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788F5B9D-7094-42F6-BBA4-5DE059E98C9B}"/>
                  </a:ext>
                </a:extLst>
              </p:cNvPr>
              <p:cNvSpPr txBox="1"/>
              <p:nvPr/>
            </p:nvSpPr>
            <p:spPr>
              <a:xfrm>
                <a:off x="1302056" y="2579143"/>
                <a:ext cx="348172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L4i</a:t>
                </a:r>
              </a:p>
            </p:txBody>
          </p: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925A4E23-BB78-4B6E-8898-25BD0CDBF15E}"/>
                  </a:ext>
                </a:extLst>
              </p:cNvPr>
              <p:cNvCxnSpPr/>
              <p:nvPr/>
            </p:nvCxnSpPr>
            <p:spPr>
              <a:xfrm>
                <a:off x="574675" y="2566447"/>
                <a:ext cx="1162050" cy="0"/>
              </a:xfrm>
              <a:prstGeom prst="line">
                <a:avLst/>
              </a:prstGeom>
              <a:ln w="9525">
                <a:solidFill>
                  <a:srgbClr val="D9D9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A552EB5D-B4E9-42E6-9CE2-812C9AEB2169}"/>
              </a:ext>
            </a:extLst>
          </p:cNvPr>
          <p:cNvGrpSpPr/>
          <p:nvPr/>
        </p:nvGrpSpPr>
        <p:grpSpPr>
          <a:xfrm>
            <a:off x="162064" y="4125426"/>
            <a:ext cx="1724011" cy="2217739"/>
            <a:chOff x="162064" y="4039701"/>
            <a:chExt cx="2118360" cy="2217739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18" name="Chart 3">
                  <a:extLst>
                    <a:ext uri="{FF2B5EF4-FFF2-40B4-BE49-F238E27FC236}">
                      <a16:creationId xmlns:a16="http://schemas.microsoft.com/office/drawing/2014/main" id="{FBDF59EF-73DC-497B-A3C1-ED093E37A80D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68343023"/>
                    </p:ext>
                  </p:extLst>
                </p:nvPr>
              </p:nvGraphicFramePr>
              <p:xfrm>
                <a:off x="162064" y="4039701"/>
                <a:ext cx="2118360" cy="2139786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17"/>
                </a:graphicData>
              </a:graphic>
            </p:graphicFrame>
          </mc:Choice>
          <mc:Fallback xmlns="">
            <p:pic>
              <p:nvPicPr>
                <p:cNvPr id="18" name="Chart 3">
                  <a:extLst>
                    <a:ext uri="{FF2B5EF4-FFF2-40B4-BE49-F238E27FC236}">
                      <a16:creationId xmlns:a16="http://schemas.microsoft.com/office/drawing/2014/main" id="{FBDF59EF-73DC-497B-A3C1-ED093E37A80D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2064" y="4125426"/>
                  <a:ext cx="1724011" cy="213978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FA4D618-450C-4267-9CD4-732B3C410AD6}"/>
                </a:ext>
              </a:extLst>
            </p:cNvPr>
            <p:cNvGrpSpPr/>
            <p:nvPr/>
          </p:nvGrpSpPr>
          <p:grpSpPr>
            <a:xfrm>
              <a:off x="680223" y="6052041"/>
              <a:ext cx="1162050" cy="205399"/>
              <a:chOff x="2847975" y="2869940"/>
              <a:chExt cx="1162050" cy="280662"/>
            </a:xfrm>
          </p:grpSpPr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526172A-2D6A-4748-AF0E-85862BD7879E}"/>
                  </a:ext>
                </a:extLst>
              </p:cNvPr>
              <p:cNvSpPr txBox="1"/>
              <p:nvPr/>
            </p:nvSpPr>
            <p:spPr>
              <a:xfrm>
                <a:off x="3174695" y="2888991"/>
                <a:ext cx="325730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E8</a:t>
                </a: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A1DFC02-469B-4B6B-84BB-95A319710EA7}"/>
                  </a:ext>
                </a:extLst>
              </p:cNvPr>
              <p:cNvSpPr txBox="1"/>
              <p:nvPr/>
            </p:nvSpPr>
            <p:spPr>
              <a:xfrm>
                <a:off x="3534716" y="2888990"/>
                <a:ext cx="348172" cy="261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L4i</a:t>
                </a:r>
              </a:p>
            </p:txBody>
          </p: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B5B3E76D-143E-443E-A85F-AAAF57A6213A}"/>
                  </a:ext>
                </a:extLst>
              </p:cNvPr>
              <p:cNvCxnSpPr/>
              <p:nvPr/>
            </p:nvCxnSpPr>
            <p:spPr>
              <a:xfrm>
                <a:off x="2847975" y="2869940"/>
                <a:ext cx="1162050" cy="0"/>
              </a:xfrm>
              <a:prstGeom prst="line">
                <a:avLst/>
              </a:prstGeom>
              <a:ln w="9525">
                <a:solidFill>
                  <a:srgbClr val="D9D9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514C387C-477E-40A0-9C35-A019F304B6E2}"/>
              </a:ext>
            </a:extLst>
          </p:cNvPr>
          <p:cNvGrpSpPr/>
          <p:nvPr/>
        </p:nvGrpSpPr>
        <p:grpSpPr>
          <a:xfrm>
            <a:off x="3055543" y="4125426"/>
            <a:ext cx="1722741" cy="2212630"/>
            <a:chOff x="4060530" y="4039701"/>
            <a:chExt cx="2116800" cy="2212630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91" name="Chart 3">
                  <a:extLst>
                    <a:ext uri="{FF2B5EF4-FFF2-40B4-BE49-F238E27FC236}">
                      <a16:creationId xmlns:a16="http://schemas.microsoft.com/office/drawing/2014/main" id="{89A8CE18-0E10-447E-87B6-E2E40023EBA3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990287809"/>
                    </p:ext>
                  </p:extLst>
                </p:nvPr>
              </p:nvGraphicFramePr>
              <p:xfrm>
                <a:off x="4060530" y="4039701"/>
                <a:ext cx="2116800" cy="2138400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19"/>
                </a:graphicData>
              </a:graphic>
            </p:graphicFrame>
          </mc:Choice>
          <mc:Fallback xmlns="">
            <p:pic>
              <p:nvPicPr>
                <p:cNvPr id="91" name="Chart 3">
                  <a:extLst>
                    <a:ext uri="{FF2B5EF4-FFF2-40B4-BE49-F238E27FC236}">
                      <a16:creationId xmlns:a16="http://schemas.microsoft.com/office/drawing/2014/main" id="{89A8CE18-0E10-447E-87B6-E2E40023EBA3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55543" y="4125426"/>
                  <a:ext cx="1722741" cy="2138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13D6D45B-28CC-485C-BDD5-6F4F9C570AB3}"/>
                </a:ext>
              </a:extLst>
            </p:cNvPr>
            <p:cNvGrpSpPr/>
            <p:nvPr/>
          </p:nvGrpSpPr>
          <p:grpSpPr>
            <a:xfrm>
              <a:off x="4575680" y="6038756"/>
              <a:ext cx="1162050" cy="213575"/>
              <a:chOff x="574675" y="2566447"/>
              <a:chExt cx="1162050" cy="274307"/>
            </a:xfrm>
          </p:grpSpPr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278CE357-23AE-4211-AD87-6F92E74B6835}"/>
                  </a:ext>
                </a:extLst>
              </p:cNvPr>
              <p:cNvSpPr txBox="1"/>
              <p:nvPr/>
            </p:nvSpPr>
            <p:spPr>
              <a:xfrm>
                <a:off x="942035" y="2579143"/>
                <a:ext cx="325730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E8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1C4C05B8-930D-4243-9B7E-A1200151C965}"/>
                  </a:ext>
                </a:extLst>
              </p:cNvPr>
              <p:cNvSpPr txBox="1"/>
              <p:nvPr/>
            </p:nvSpPr>
            <p:spPr>
              <a:xfrm>
                <a:off x="1302056" y="2579143"/>
                <a:ext cx="348172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L4i</a:t>
                </a:r>
              </a:p>
            </p:txBody>
          </p: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7B67F8A0-3B8B-4FF4-94BC-9B18FC1B6699}"/>
                  </a:ext>
                </a:extLst>
              </p:cNvPr>
              <p:cNvCxnSpPr/>
              <p:nvPr/>
            </p:nvCxnSpPr>
            <p:spPr>
              <a:xfrm>
                <a:off x="574675" y="2566447"/>
                <a:ext cx="1162050" cy="0"/>
              </a:xfrm>
              <a:prstGeom prst="line">
                <a:avLst/>
              </a:prstGeom>
              <a:ln w="9525">
                <a:solidFill>
                  <a:srgbClr val="D9D9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66D52615-2738-47DB-A6A8-36DB090029E3}"/>
              </a:ext>
            </a:extLst>
          </p:cNvPr>
          <p:cNvGrpSpPr/>
          <p:nvPr/>
        </p:nvGrpSpPr>
        <p:grpSpPr>
          <a:xfrm>
            <a:off x="4493388" y="4125426"/>
            <a:ext cx="1888636" cy="2212630"/>
            <a:chOff x="6279546" y="4039701"/>
            <a:chExt cx="2320641" cy="2212630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90" name="Chart 3">
                  <a:extLst>
                    <a:ext uri="{FF2B5EF4-FFF2-40B4-BE49-F238E27FC236}">
                      <a16:creationId xmlns:a16="http://schemas.microsoft.com/office/drawing/2014/main" id="{4EC02E9A-82ED-4AB0-B40D-F284B1530A8D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7734780"/>
                    </p:ext>
                  </p:extLst>
                </p:nvPr>
              </p:nvGraphicFramePr>
              <p:xfrm>
                <a:off x="6279546" y="4039701"/>
                <a:ext cx="2320641" cy="2138400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21"/>
                </a:graphicData>
              </a:graphic>
            </p:graphicFrame>
          </mc:Choice>
          <mc:Fallback xmlns="">
            <p:pic>
              <p:nvPicPr>
                <p:cNvPr id="90" name="Chart 3">
                  <a:extLst>
                    <a:ext uri="{FF2B5EF4-FFF2-40B4-BE49-F238E27FC236}">
                      <a16:creationId xmlns:a16="http://schemas.microsoft.com/office/drawing/2014/main" id="{4EC02E9A-82ED-4AB0-B40D-F284B1530A8D}"/>
                    </a:ext>
                    <a:ext uri="{147F2762-F138-4A5C-976F-8EAC2B608ADB}">
                      <a16:predDERef xmlns:a16="http://schemas.microsoft.com/office/drawing/2014/main" pred="{917FC53A-48EE-01F7-F474-AAFD85D7B01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93388" y="4125426"/>
                  <a:ext cx="1888636" cy="2138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08614BF7-9202-4C38-887D-48FDC4409FF6}"/>
                </a:ext>
              </a:extLst>
            </p:cNvPr>
            <p:cNvGrpSpPr/>
            <p:nvPr/>
          </p:nvGrpSpPr>
          <p:grpSpPr>
            <a:xfrm>
              <a:off x="6941492" y="6038756"/>
              <a:ext cx="1167628" cy="213575"/>
              <a:chOff x="438150" y="2566447"/>
              <a:chExt cx="1167628" cy="274307"/>
            </a:xfrm>
          </p:grpSpPr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4A8E48AB-43D8-40AB-B595-5A78E35CE4D2}"/>
                  </a:ext>
                </a:extLst>
              </p:cNvPr>
              <p:cNvSpPr txBox="1"/>
              <p:nvPr/>
            </p:nvSpPr>
            <p:spPr>
              <a:xfrm>
                <a:off x="843610" y="2579143"/>
                <a:ext cx="325730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E8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99665A6B-E551-4005-BF31-24C9D3821D55}"/>
                  </a:ext>
                </a:extLst>
              </p:cNvPr>
              <p:cNvSpPr txBox="1"/>
              <p:nvPr/>
            </p:nvSpPr>
            <p:spPr>
              <a:xfrm>
                <a:off x="1257606" y="2579143"/>
                <a:ext cx="348172" cy="261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/>
                  <a:t>L4i</a:t>
                </a:r>
              </a:p>
            </p:txBody>
          </p: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BDEECA82-94A2-473E-A989-A57F9310C888}"/>
                  </a:ext>
                </a:extLst>
              </p:cNvPr>
              <p:cNvCxnSpPr/>
              <p:nvPr/>
            </p:nvCxnSpPr>
            <p:spPr>
              <a:xfrm>
                <a:off x="438150" y="2566447"/>
                <a:ext cx="1162050" cy="0"/>
              </a:xfrm>
              <a:prstGeom prst="line">
                <a:avLst/>
              </a:prstGeom>
              <a:ln w="9525">
                <a:solidFill>
                  <a:srgbClr val="D9D9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feld 104">
            <a:extLst>
              <a:ext uri="{FF2B5EF4-FFF2-40B4-BE49-F238E27FC236}">
                <a16:creationId xmlns:a16="http://schemas.microsoft.com/office/drawing/2014/main" id="{1AC3CDEF-CF1F-487D-BCB2-63E5388420E5}"/>
              </a:ext>
            </a:extLst>
          </p:cNvPr>
          <p:cNvSpPr txBox="1"/>
          <p:nvPr/>
        </p:nvSpPr>
        <p:spPr>
          <a:xfrm>
            <a:off x="3028384" y="424290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C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B685702B-B226-4A5A-9732-D0DD6CE2DCD6}"/>
              </a:ext>
            </a:extLst>
          </p:cNvPr>
          <p:cNvSpPr txBox="1"/>
          <p:nvPr/>
        </p:nvSpPr>
        <p:spPr>
          <a:xfrm>
            <a:off x="6099067" y="4242901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D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850DAE7F-84CF-4514-BAA8-ACB88454060D}"/>
              </a:ext>
            </a:extLst>
          </p:cNvPr>
          <p:cNvSpPr txBox="1"/>
          <p:nvPr/>
        </p:nvSpPr>
        <p:spPr>
          <a:xfrm>
            <a:off x="9422184" y="424290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4657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AD09B24C-5F9A-49E2-8CD8-759896D9D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000" y="231006"/>
            <a:ext cx="1218077" cy="1202359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4EAB349-063F-45A0-91BD-DCBF79AD7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000" y="1362134"/>
            <a:ext cx="1218077" cy="1202359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DAEF73D5-D7EA-4DAA-B2A2-A012711F5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33" y="1362137"/>
            <a:ext cx="1214070" cy="1202359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8D12FC7E-B29F-4845-90C7-B2E86BD63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33" y="231006"/>
            <a:ext cx="1214070" cy="120235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EFD6C358-82DA-41C6-96BB-1124515C57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804" y="231006"/>
            <a:ext cx="1218077" cy="1202359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8691E9B-222F-413A-A6F1-63B6B56D1A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2804" y="1362134"/>
            <a:ext cx="1218077" cy="1202359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81EB5A9A-F6E8-4807-9FD8-CB337747C8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2537" y="231006"/>
            <a:ext cx="1214071" cy="1202359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DF2EBE91-F388-4B61-A035-6F6DD0FC5C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2537" y="1362137"/>
            <a:ext cx="1214070" cy="120235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129008F-0014-4B7B-BB25-4A95592D00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785" y="231006"/>
            <a:ext cx="1218077" cy="1202359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F56B6C4-AA60-4D23-B574-0CADC4EC4B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785" y="1362134"/>
            <a:ext cx="1218077" cy="1202359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824FD857-D453-41DE-97D9-87C8E3A688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3517" y="231006"/>
            <a:ext cx="1214070" cy="1202359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2D67341A-DE4E-408B-B6EE-6178CF2411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93517" y="1362137"/>
            <a:ext cx="1214070" cy="1202359"/>
          </a:xfrm>
          <a:prstGeom prst="rect">
            <a:avLst/>
          </a:prstGeom>
        </p:spPr>
      </p:pic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F0B4A7D-A1BE-4DF2-8CB9-801EACFB8444}"/>
              </a:ext>
            </a:extLst>
          </p:cNvPr>
          <p:cNvGrpSpPr/>
          <p:nvPr/>
        </p:nvGrpSpPr>
        <p:grpSpPr>
          <a:xfrm>
            <a:off x="411480" y="2484120"/>
            <a:ext cx="7003323" cy="119380"/>
            <a:chOff x="411480" y="2484120"/>
            <a:chExt cx="7003323" cy="119380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352253E7-9814-4F2C-BBB6-772C59EA8247}"/>
                </a:ext>
              </a:extLst>
            </p:cNvPr>
            <p:cNvSpPr/>
            <p:nvPr/>
          </p:nvSpPr>
          <p:spPr>
            <a:xfrm>
              <a:off x="418403" y="2501900"/>
              <a:ext cx="6996400" cy="1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CD45</a:t>
              </a:r>
            </a:p>
          </p:txBody>
        </p: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CCBE2C25-E0C4-40E9-A910-0E172B03602C}"/>
                </a:ext>
              </a:extLst>
            </p:cNvPr>
            <p:cNvCxnSpPr/>
            <p:nvPr/>
          </p:nvCxnSpPr>
          <p:spPr>
            <a:xfrm>
              <a:off x="411480" y="2484120"/>
              <a:ext cx="700332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50208B69-DFCD-422D-BB9C-C63566987AE2}"/>
              </a:ext>
            </a:extLst>
          </p:cNvPr>
          <p:cNvGrpSpPr/>
          <p:nvPr/>
        </p:nvGrpSpPr>
        <p:grpSpPr>
          <a:xfrm>
            <a:off x="34871" y="231006"/>
            <a:ext cx="261610" cy="2154054"/>
            <a:chOff x="34871" y="231006"/>
            <a:chExt cx="261610" cy="2154054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293DBE73-66B2-4D38-AF17-F06216AA51E7}"/>
                </a:ext>
              </a:extLst>
            </p:cNvPr>
            <p:cNvSpPr/>
            <p:nvPr/>
          </p:nvSpPr>
          <p:spPr>
            <a:xfrm>
              <a:off x="147566" y="231006"/>
              <a:ext cx="92092" cy="2154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7F16D96A-7730-4360-BFDF-9AE77251C778}"/>
                </a:ext>
              </a:extLst>
            </p:cNvPr>
            <p:cNvCxnSpPr>
              <a:cxnSpLocks/>
            </p:cNvCxnSpPr>
            <p:nvPr/>
          </p:nvCxnSpPr>
          <p:spPr>
            <a:xfrm>
              <a:off x="239658" y="231006"/>
              <a:ext cx="0" cy="21540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F787139-6DF8-4C42-822A-604A4F9BE832}"/>
                </a:ext>
              </a:extLst>
            </p:cNvPr>
            <p:cNvSpPr txBox="1"/>
            <p:nvPr/>
          </p:nvSpPr>
          <p:spPr>
            <a:xfrm rot="16200000">
              <a:off x="-79744" y="1192322"/>
              <a:ext cx="4908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CD34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9CA4FBCC-1619-4065-BAD4-A7042A373515}"/>
              </a:ext>
            </a:extLst>
          </p:cNvPr>
          <p:cNvGrpSpPr/>
          <p:nvPr/>
        </p:nvGrpSpPr>
        <p:grpSpPr>
          <a:xfrm>
            <a:off x="3753536" y="231006"/>
            <a:ext cx="261610" cy="2154054"/>
            <a:chOff x="34871" y="231006"/>
            <a:chExt cx="261610" cy="2154054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E3D33F5-2A0C-4524-A9D0-84321E96508F}"/>
                </a:ext>
              </a:extLst>
            </p:cNvPr>
            <p:cNvSpPr/>
            <p:nvPr/>
          </p:nvSpPr>
          <p:spPr>
            <a:xfrm>
              <a:off x="147566" y="231006"/>
              <a:ext cx="92092" cy="2154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75561B5E-7A17-45CB-A9AA-995BC698311F}"/>
                </a:ext>
              </a:extLst>
            </p:cNvPr>
            <p:cNvCxnSpPr>
              <a:cxnSpLocks/>
            </p:cNvCxnSpPr>
            <p:nvPr/>
          </p:nvCxnSpPr>
          <p:spPr>
            <a:xfrm>
              <a:off x="239658" y="231006"/>
              <a:ext cx="0" cy="21540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7785A242-ACEF-4913-A7EF-11FA1CA04042}"/>
                </a:ext>
              </a:extLst>
            </p:cNvPr>
            <p:cNvSpPr txBox="1"/>
            <p:nvPr/>
          </p:nvSpPr>
          <p:spPr>
            <a:xfrm rot="16200000">
              <a:off x="-79744" y="1192322"/>
              <a:ext cx="4908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CD45</a:t>
              </a:r>
            </a:p>
          </p:txBody>
        </p:sp>
      </p:grpSp>
      <p:sp>
        <p:nvSpPr>
          <p:cNvPr id="61" name="Textfeld 60">
            <a:extLst>
              <a:ext uri="{FF2B5EF4-FFF2-40B4-BE49-F238E27FC236}">
                <a16:creationId xmlns:a16="http://schemas.microsoft.com/office/drawing/2014/main" id="{F5F4D8C0-713B-4863-A4B8-0ADF8867D153}"/>
              </a:ext>
            </a:extLst>
          </p:cNvPr>
          <p:cNvSpPr txBox="1"/>
          <p:nvPr/>
        </p:nvSpPr>
        <p:spPr>
          <a:xfrm>
            <a:off x="329864" y="26179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E32C6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40DE126-F023-4CCD-A9FF-2B2AE5F424C7}"/>
              </a:ext>
            </a:extLst>
          </p:cNvPr>
          <p:cNvSpPr txBox="1"/>
          <p:nvPr/>
        </p:nvSpPr>
        <p:spPr>
          <a:xfrm>
            <a:off x="4035315" y="19829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E32C4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90AE802E-B29B-411D-B034-54D0C59AFA8E}"/>
              </a:ext>
            </a:extLst>
          </p:cNvPr>
          <p:cNvSpPr txBox="1"/>
          <p:nvPr/>
        </p:nvSpPr>
        <p:spPr>
          <a:xfrm>
            <a:off x="329864" y="176488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chemeClr val="accent5"/>
                </a:solidFill>
              </a:rPr>
              <a:t>E8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629B1588-FD65-4266-9F1E-DC2B420E55A6}"/>
              </a:ext>
            </a:extLst>
          </p:cNvPr>
          <p:cNvSpPr txBox="1"/>
          <p:nvPr/>
        </p:nvSpPr>
        <p:spPr>
          <a:xfrm>
            <a:off x="323767" y="1313571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L4i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5E9972A-8F9B-4F30-8CA4-2629C3A2E893}"/>
              </a:ext>
            </a:extLst>
          </p:cNvPr>
          <p:cNvSpPr txBox="1"/>
          <p:nvPr/>
        </p:nvSpPr>
        <p:spPr>
          <a:xfrm>
            <a:off x="4035315" y="170138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chemeClr val="accent5"/>
                </a:solidFill>
              </a:rPr>
              <a:t>E8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C6E688C-FBE4-451C-96E5-5E439CA6F4B6}"/>
              </a:ext>
            </a:extLst>
          </p:cNvPr>
          <p:cNvSpPr txBox="1"/>
          <p:nvPr/>
        </p:nvSpPr>
        <p:spPr>
          <a:xfrm>
            <a:off x="4035315" y="1307221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L4i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FECA05A0-66B1-48A1-9C48-9F0BB64A651B}"/>
              </a:ext>
            </a:extLst>
          </p:cNvPr>
          <p:cNvSpPr txBox="1"/>
          <p:nvPr/>
        </p:nvSpPr>
        <p:spPr>
          <a:xfrm>
            <a:off x="1088674" y="26179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d12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20AFFEC5-6074-4857-A0A1-01AD20CEE559}"/>
              </a:ext>
            </a:extLst>
          </p:cNvPr>
          <p:cNvSpPr txBox="1"/>
          <p:nvPr/>
        </p:nvSpPr>
        <p:spPr>
          <a:xfrm>
            <a:off x="2245204" y="26179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d17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EE66EE45-687F-406E-8815-8EB848121608}"/>
              </a:ext>
            </a:extLst>
          </p:cNvPr>
          <p:cNvSpPr txBox="1"/>
          <p:nvPr/>
        </p:nvSpPr>
        <p:spPr>
          <a:xfrm>
            <a:off x="3392808" y="26179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d20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DA4F148A-F360-4571-A23B-028999E17B18}"/>
              </a:ext>
            </a:extLst>
          </p:cNvPr>
          <p:cNvSpPr txBox="1"/>
          <p:nvPr/>
        </p:nvSpPr>
        <p:spPr>
          <a:xfrm>
            <a:off x="4798215" y="2695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d11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C1B1C8BE-9402-4869-B39C-248B1221C6F9}"/>
              </a:ext>
            </a:extLst>
          </p:cNvPr>
          <p:cNvSpPr txBox="1"/>
          <p:nvPr/>
        </p:nvSpPr>
        <p:spPr>
          <a:xfrm>
            <a:off x="5954745" y="2695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d16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C6A1E57-B13D-49DD-86D4-F6327ADE42B5}"/>
              </a:ext>
            </a:extLst>
          </p:cNvPr>
          <p:cNvSpPr txBox="1"/>
          <p:nvPr/>
        </p:nvSpPr>
        <p:spPr>
          <a:xfrm>
            <a:off x="7102349" y="2695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d20</a:t>
            </a:r>
          </a:p>
        </p:txBody>
      </p:sp>
    </p:spTree>
    <p:extLst>
      <p:ext uri="{BB962C8B-B14F-4D97-AF65-F5344CB8AC3E}">
        <p14:creationId xmlns:p14="http://schemas.microsoft.com/office/powerpoint/2010/main" val="391278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PresentationFormat>Breitbild</PresentationFormat>
  <Paragraphs>112</Paragraphs>
  <Slides>9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MHH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Knöß, Sabine</dc:creator>
  <cp:lastModifiedBy>Heisler, Willem Dr.</cp:lastModifiedBy>
  <cp:revision>34</cp:revision>
  <dcterms:created xsi:type="dcterms:W3CDTF">2026-03-25T09:47:43Z</dcterms:created>
  <dcterms:modified xsi:type="dcterms:W3CDTF">2026-04-09T07:59:41Z</dcterms:modified>
</cp:coreProperties>
</file>